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e4c5431c2d4c89" /><Relationship Type="http://schemas.openxmlformats.org/officeDocument/2006/relationships/extended-properties" Target="/docProps/app.xml" Id="R0047add983ad4fee" /><Relationship Type="http://schemas.openxmlformats.org/officeDocument/2006/relationships/officeDocument" Target="/ppt/presentation.xml" Id="Rcd78ee4bbf284d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9695430a3e46dc"/>
  </p:sldMasterIdLst>
  <p:notesMasterIdLst>
    <p:notesMasterId xmlns:r="http://schemas.openxmlformats.org/officeDocument/2006/relationships" r:id="Rfe3861b136dc4d6e"/>
  </p:notesMasterIdLst>
  <p:sldIdLst>
    <p:sldId xmlns:r="http://schemas.openxmlformats.org/officeDocument/2006/relationships" id="256" r:id="Reff0d47ec47342d0"/>
    <p:sldId xmlns:r="http://schemas.openxmlformats.org/officeDocument/2006/relationships" id="257" r:id="R0f17c0b04ad8494d"/>
    <p:sldId xmlns:r="http://schemas.openxmlformats.org/officeDocument/2006/relationships" id="258" r:id="R64c4191fa28445d7"/>
    <p:sldId xmlns:r="http://schemas.openxmlformats.org/officeDocument/2006/relationships" id="259" r:id="Rc0344e7b0d184cfe"/>
    <p:sldId xmlns:r="http://schemas.openxmlformats.org/officeDocument/2006/relationships" id="260" r:id="Rb3d913782d2e4f8d"/>
    <p:sldId xmlns:r="http://schemas.openxmlformats.org/officeDocument/2006/relationships" id="261" r:id="Ra115d380907c4abc"/>
    <p:sldId xmlns:r="http://schemas.openxmlformats.org/officeDocument/2006/relationships" id="262" r:id="R57897efdcabc4900"/>
    <p:sldId xmlns:r="http://schemas.openxmlformats.org/officeDocument/2006/relationships" id="263" r:id="Rb5614a1d67e145cb"/>
    <p:sldId xmlns:r="http://schemas.openxmlformats.org/officeDocument/2006/relationships" id="264" r:id="R1d5d233789d44442"/>
    <p:sldId xmlns:r="http://schemas.openxmlformats.org/officeDocument/2006/relationships" id="265" r:id="R6dc40bc3771948b9"/>
    <p:sldId xmlns:r="http://schemas.openxmlformats.org/officeDocument/2006/relationships" id="266" r:id="Rc00483310bc84fe5"/>
    <p:sldId xmlns:r="http://schemas.openxmlformats.org/officeDocument/2006/relationships" id="267" r:id="Re44c932a8ebd46aa"/>
    <p:sldId xmlns:r="http://schemas.openxmlformats.org/officeDocument/2006/relationships" id="268" r:id="R582f7e0ad0ee4d14"/>
    <p:sldId xmlns:r="http://schemas.openxmlformats.org/officeDocument/2006/relationships" id="269" r:id="R99e8868e8cf845ba"/>
    <p:sldId xmlns:r="http://schemas.openxmlformats.org/officeDocument/2006/relationships" id="270" r:id="Rf63062855d4c4974"/>
    <p:sldId xmlns:r="http://schemas.openxmlformats.org/officeDocument/2006/relationships" id="271" r:id="R4222d19bfcf24cfe"/>
    <p:sldId xmlns:r="http://schemas.openxmlformats.org/officeDocument/2006/relationships" id="272" r:id="R6e2265349f734ac9"/>
    <p:sldId xmlns:r="http://schemas.openxmlformats.org/officeDocument/2006/relationships" id="273" r:id="R895f5b4b49714b04"/>
    <p:sldId xmlns:r="http://schemas.openxmlformats.org/officeDocument/2006/relationships" id="274" r:id="R5505a79ef1e24631"/>
    <p:sldId xmlns:r="http://schemas.openxmlformats.org/officeDocument/2006/relationships" id="275" r:id="R920a8317a5884d8f"/>
    <p:sldId xmlns:r="http://schemas.openxmlformats.org/officeDocument/2006/relationships" id="276" r:id="R539b7de867c649b4"/>
    <p:sldId xmlns:r="http://schemas.openxmlformats.org/officeDocument/2006/relationships" id="277" r:id="R9d6658dd964c4a8b"/>
    <p:sldId xmlns:r="http://schemas.openxmlformats.org/officeDocument/2006/relationships" id="278" r:id="Rb6916223ccc140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19d179eb5f4a3a" /><Relationship Type="http://schemas.openxmlformats.org/officeDocument/2006/relationships/slideMaster" Target="/ppt/slideMasters/slideMaster1.xml" Id="R9e9695430a3e46dc" /><Relationship Type="http://schemas.openxmlformats.org/officeDocument/2006/relationships/notesMaster" Target="/ppt/notesMasters/notesMaster1.xml" Id="Rfe3861b136dc4d6e" /><Relationship Type="http://schemas.openxmlformats.org/officeDocument/2006/relationships/presProps" Target="/ppt/presProps.xml" Id="Rbf4e4e55741942a5" /><Relationship Type="http://schemas.openxmlformats.org/officeDocument/2006/relationships/tableStyles" Target="/ppt/tableStyles.xml" Id="R8996ef94b97c4314" /><Relationship Type="http://schemas.openxmlformats.org/officeDocument/2006/relationships/slide" Target="/ppt/slides/slide1.xml" Id="Reff0d47ec47342d0" /><Relationship Type="http://schemas.openxmlformats.org/officeDocument/2006/relationships/slide" Target="/ppt/slides/slide2.xml" Id="R0f17c0b04ad8494d" /><Relationship Type="http://schemas.openxmlformats.org/officeDocument/2006/relationships/slide" Target="/ppt/slides/slide3.xml" Id="R64c4191fa28445d7" /><Relationship Type="http://schemas.openxmlformats.org/officeDocument/2006/relationships/slide" Target="/ppt/slides/slide4.xml" Id="Rc0344e7b0d184cfe" /><Relationship Type="http://schemas.openxmlformats.org/officeDocument/2006/relationships/slide" Target="/ppt/slides/slide5.xml" Id="Rb3d913782d2e4f8d" /><Relationship Type="http://schemas.openxmlformats.org/officeDocument/2006/relationships/slide" Target="/ppt/slides/slide6.xml" Id="Ra115d380907c4abc" /><Relationship Type="http://schemas.openxmlformats.org/officeDocument/2006/relationships/slide" Target="/ppt/slides/slide7.xml" Id="R57897efdcabc4900" /><Relationship Type="http://schemas.openxmlformats.org/officeDocument/2006/relationships/slide" Target="/ppt/slides/slide8.xml" Id="Rb5614a1d67e145cb" /><Relationship Type="http://schemas.openxmlformats.org/officeDocument/2006/relationships/slide" Target="/ppt/slides/slide9.xml" Id="R1d5d233789d44442" /><Relationship Type="http://schemas.openxmlformats.org/officeDocument/2006/relationships/slide" Target="/ppt/slides/slide10.xml" Id="R6dc40bc3771948b9" /><Relationship Type="http://schemas.openxmlformats.org/officeDocument/2006/relationships/slide" Target="/ppt/slides/slide11.xml" Id="Rc00483310bc84fe5" /><Relationship Type="http://schemas.openxmlformats.org/officeDocument/2006/relationships/slide" Target="/ppt/slides/slide12.xml" Id="Re44c932a8ebd46aa" /><Relationship Type="http://schemas.openxmlformats.org/officeDocument/2006/relationships/slide" Target="/ppt/slides/slide13.xml" Id="R582f7e0ad0ee4d14" /><Relationship Type="http://schemas.openxmlformats.org/officeDocument/2006/relationships/slide" Target="/ppt/slides/slide14.xml" Id="R99e8868e8cf845ba" /><Relationship Type="http://schemas.openxmlformats.org/officeDocument/2006/relationships/slide" Target="/ppt/slides/slide15.xml" Id="Rf63062855d4c4974" /><Relationship Type="http://schemas.openxmlformats.org/officeDocument/2006/relationships/slide" Target="/ppt/slides/slide16.xml" Id="R4222d19bfcf24cfe" /><Relationship Type="http://schemas.openxmlformats.org/officeDocument/2006/relationships/slide" Target="/ppt/slides/slide17.xml" Id="R6e2265349f734ac9" /><Relationship Type="http://schemas.openxmlformats.org/officeDocument/2006/relationships/slide" Target="/ppt/slides/slide18.xml" Id="R895f5b4b49714b04" /><Relationship Type="http://schemas.openxmlformats.org/officeDocument/2006/relationships/slide" Target="/ppt/slides/slide19.xml" Id="R5505a79ef1e24631" /><Relationship Type="http://schemas.openxmlformats.org/officeDocument/2006/relationships/slide" Target="/ppt/slides/slide20.xml" Id="R920a8317a5884d8f" /><Relationship Type="http://schemas.openxmlformats.org/officeDocument/2006/relationships/slide" Target="/ppt/slides/slide21.xml" Id="R539b7de867c649b4" /><Relationship Type="http://schemas.openxmlformats.org/officeDocument/2006/relationships/slide" Target="/ppt/slides/slide22.xml" Id="R9d6658dd964c4a8b" /><Relationship Type="http://schemas.openxmlformats.org/officeDocument/2006/relationships/slide" Target="/ppt/slides/slide23.xml" Id="Rb6916223ccc140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1d35f08ffd43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oT MQTT Final Submission">
      <a:dk1>
        <a:srgbClr val="000000"/>
      </a:dk1>
      <a:lt1>
        <a:srgbClr val="FFFFFF"/>
      </a:lt1>
      <a:dk2>
        <a:srgbClr val="0B1220"/>
      </a:dk2>
      <a:lt2>
        <a:srgbClr val="D5DCE8"/>
      </a:lt2>
      <a:accent1>
        <a:srgbClr val="00A6A6"/>
      </a:accent1>
      <a:accent2>
        <a:srgbClr val="2563EB"/>
      </a:accent2>
      <a:accent3>
        <a:srgbClr val="F59E0B"/>
      </a:accent3>
      <a:accent4>
        <a:srgbClr val="EF4444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oT MQTT Final Submis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87d29f6e5f4617" /><Relationship Type="http://schemas.openxmlformats.org/officeDocument/2006/relationships/notesMaster" Target="/ppt/notesMasters/notesMaster1.xml" Id="R209c305220c74b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8f9985b4104895" /><Relationship Type="http://schemas.openxmlformats.org/officeDocument/2006/relationships/notesMaster" Target="/ppt/notesMasters/notesMaster1.xml" Id="Re49130cb9e0f41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fac3548ff34499" /><Relationship Type="http://schemas.openxmlformats.org/officeDocument/2006/relationships/notesMaster" Target="/ppt/notesMasters/notesMaster1.xml" Id="Rb24f7b46d55141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388a1c0f964a4c" /><Relationship Type="http://schemas.openxmlformats.org/officeDocument/2006/relationships/notesMaster" Target="/ppt/notesMasters/notesMaster1.xml" Id="Rdb10991415b74b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d23a97bae8496e" /><Relationship Type="http://schemas.openxmlformats.org/officeDocument/2006/relationships/notesMaster" Target="/ppt/notesMasters/notesMaster1.xml" Id="R349f773a23a148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b7a4d7ceb44b1d" /><Relationship Type="http://schemas.openxmlformats.org/officeDocument/2006/relationships/notesMaster" Target="/ppt/notesMasters/notesMaster1.xml" Id="R93ee713f535648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295a13b7064587" /><Relationship Type="http://schemas.openxmlformats.org/officeDocument/2006/relationships/notesMaster" Target="/ppt/notesMasters/notesMaster1.xml" Id="R88f4ce59c3134f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a42736aa7c4ff8" /><Relationship Type="http://schemas.openxmlformats.org/officeDocument/2006/relationships/notesMaster" Target="/ppt/notesMasters/notesMaster1.xml" Id="R9041e9623cbf45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3d884832624ce3" /><Relationship Type="http://schemas.openxmlformats.org/officeDocument/2006/relationships/notesMaster" Target="/ppt/notesMasters/notesMaster1.xml" Id="R9931fe972fb343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a22313405f4076" /><Relationship Type="http://schemas.openxmlformats.org/officeDocument/2006/relationships/notesMaster" Target="/ppt/notesMasters/notesMaster1.xml" Id="R638e926fdc034c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fd4ddc018e4269" /><Relationship Type="http://schemas.openxmlformats.org/officeDocument/2006/relationships/notesMaster" Target="/ppt/notesMasters/notesMaster1.xml" Id="R79f2b25912b744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5c6eccc1f74292" /><Relationship Type="http://schemas.openxmlformats.org/officeDocument/2006/relationships/notesMaster" Target="/ppt/notesMasters/notesMaster1.xml" Id="R26ec2485119342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a9860558844f8d" /><Relationship Type="http://schemas.openxmlformats.org/officeDocument/2006/relationships/notesMaster" Target="/ppt/notesMasters/notesMaster1.xml" Id="Rddd86654252f4a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372c544cbc48db" /><Relationship Type="http://schemas.openxmlformats.org/officeDocument/2006/relationships/notesMaster" Target="/ppt/notesMasters/notesMaster1.xml" Id="R04defd6c4dc74f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5d83287a6b44a7" /><Relationship Type="http://schemas.openxmlformats.org/officeDocument/2006/relationships/notesMaster" Target="/ppt/notesMasters/notesMaster1.xml" Id="R7aee205ce67646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24546b97974a27" /><Relationship Type="http://schemas.openxmlformats.org/officeDocument/2006/relationships/notesMaster" Target="/ppt/notesMasters/notesMaster1.xml" Id="Ra540c3d0e7db42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b2ed6a7319b4732" /><Relationship Type="http://schemas.openxmlformats.org/officeDocument/2006/relationships/notesMaster" Target="/ppt/notesMasters/notesMaster1.xml" Id="R507ab8604d1c4b7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dbbb51920bb4de2" /><Relationship Type="http://schemas.openxmlformats.org/officeDocument/2006/relationships/notesMaster" Target="/ppt/notesMasters/notesMaster1.xml" Id="Rb4613479c9b642b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371cd5f24c943da" /><Relationship Type="http://schemas.openxmlformats.org/officeDocument/2006/relationships/notesMaster" Target="/ppt/notesMasters/notesMaster1.xml" Id="Rf1efb0f47205494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4908be6250f47e6" /><Relationship Type="http://schemas.openxmlformats.org/officeDocument/2006/relationships/notesMaster" Target="/ppt/notesMasters/notesMaster1.xml" Id="R7f2dec721e1f45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35a7a9d90ba4459" /><Relationship Type="http://schemas.openxmlformats.org/officeDocument/2006/relationships/notesMaster" Target="/ppt/notesMasters/notesMaster1.xml" Id="R932f20dece4f432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24c1f3b9df24165" /><Relationship Type="http://schemas.openxmlformats.org/officeDocument/2006/relationships/notesMaster" Target="/ppt/notesMasters/notesMaster1.xml" Id="R65a7c6cf3c2244d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5ef20c2c844c0f" /><Relationship Type="http://schemas.openxmlformats.org/officeDocument/2006/relationships/notesMaster" Target="/ppt/notesMasters/notesMaster1.xml" Id="Rc09da932270542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封面展示项目名称、小组成员、课程信息和提交命名格式。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本页说明课程要求与项目材料内容之间的对应关系。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本页说明项目做了什么，并把四个模块与课程题目建立对应。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本页说明项目从需求场景到协议选择、数据设计、异常处理和实时展示的实现逻辑。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 MQTT 是在 TCP 之上工作的应用层协议，适合本项目的数据上报场景。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本页说明整体架构和数据流。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本页说明项目运行环境和依赖。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这页回答数据格式设计。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说明为什么用模拟器，以及 demo 模式如何帮助复现。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这页回答功能实现和异常处理策略。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这页强调之前遇到的链路稳定性问题，以及对应修正。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说明后端不是简单转发，而是核心业务处理层。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本页讲数据处理方法。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说明智能诊断当前是本地规则实现，避免外部 API 不稳定。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本页说明前端功能面。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本页说明历史数据页的 CSV 导出功能实现。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 Docker 和本地分端启动方式，便于复现项目运行环境。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这页说明测试覆盖了核心功能。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本页说明项目实现过程中的关键问题和解决方法。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这页对应功能实现与压缩包提交要求。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本页展示两位成员的分工与共同完成内容。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本页展示系统讲解视频位置和最终提交清单。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1dd0d19c44e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04443dcdf74278" /><Relationship Type="http://schemas.openxmlformats.org/officeDocument/2006/relationships/slideLayout" Target="/ppt/slideLayouts/slideLayout1.xml" Id="Rfdf49bef0d1744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f49bef0d1744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oT MQTT Final Submission">
      <a:dk1>
        <a:srgbClr val="000000"/>
      </a:dk1>
      <a:lt1>
        <a:srgbClr val="FFFFFF"/>
      </a:lt1>
      <a:dk2>
        <a:srgbClr val="0B1220"/>
      </a:dk2>
      <a:lt2>
        <a:srgbClr val="D5DCE8"/>
      </a:lt2>
      <a:accent1>
        <a:srgbClr val="00A6A6"/>
      </a:accent1>
      <a:accent2>
        <a:srgbClr val="2563EB"/>
      </a:accent2>
      <a:accent3>
        <a:srgbClr val="F59E0B"/>
      </a:accent3>
      <a:accent4>
        <a:srgbClr val="EF4444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oT MQTT Final Submis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8c4ae00b84101" /><Relationship Type="http://schemas.openxmlformats.org/officeDocument/2006/relationships/notesSlide" Target="/ppt/notesSlides/notesSlide1.xml" Id="R64ed052449404b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ad420652642ae" /><Relationship Type="http://schemas.openxmlformats.org/officeDocument/2006/relationships/notesSlide" Target="/ppt/notesSlides/notesSlide2.xml" Id="R1ede1242a0f243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ad9c6b6d34b2c" /><Relationship Type="http://schemas.openxmlformats.org/officeDocument/2006/relationships/notesSlide" Target="/ppt/notesSlides/notesSlide3.xml" Id="Rcc30a2143d8748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ffa097a004016" /><Relationship Type="http://schemas.openxmlformats.org/officeDocument/2006/relationships/notesSlide" Target="/ppt/notesSlides/notesSlide4.xml" Id="R773116f4824a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640208126404f" /><Relationship Type="http://schemas.openxmlformats.org/officeDocument/2006/relationships/notesSlide" Target="/ppt/notesSlides/notesSlide5.xml" Id="R2f38085d96d54d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e8a96809c4130" /><Relationship Type="http://schemas.openxmlformats.org/officeDocument/2006/relationships/notesSlide" Target="/ppt/notesSlides/notesSlide6.xml" Id="R9a16a1f9733544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0bcf76a8f49a9" /><Relationship Type="http://schemas.openxmlformats.org/officeDocument/2006/relationships/notesSlide" Target="/ppt/notesSlides/notesSlide7.xml" Id="R9164e40b1b7044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8f6c2cccd453e" /><Relationship Type="http://schemas.openxmlformats.org/officeDocument/2006/relationships/notesSlide" Target="/ppt/notesSlides/notesSlide8.xml" Id="Re635bfa392a047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1bb1b249a425c" /><Relationship Type="http://schemas.openxmlformats.org/officeDocument/2006/relationships/notesSlide" Target="/ppt/notesSlides/notesSlide9.xml" Id="R3d8992d6e07a4e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b6cf7c62e443d" /><Relationship Type="http://schemas.openxmlformats.org/officeDocument/2006/relationships/notesSlide" Target="/ppt/notesSlides/notesSlide10.xml" Id="R8c1faa9f046340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f9fe5a84245de" /><Relationship Type="http://schemas.openxmlformats.org/officeDocument/2006/relationships/notesSlide" Target="/ppt/notesSlides/notesSlide11.xml" Id="R8bcafda3f9bd41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597cd48054337" /><Relationship Type="http://schemas.openxmlformats.org/officeDocument/2006/relationships/notesSlide" Target="/ppt/notesSlides/notesSlide12.xml" Id="R78f4b1d5b31141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4050b25bc494f" /><Relationship Type="http://schemas.openxmlformats.org/officeDocument/2006/relationships/notesSlide" Target="/ppt/notesSlides/notesSlide13.xml" Id="Rd127e15f1bae4f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316a0e3bd43cd" /><Relationship Type="http://schemas.openxmlformats.org/officeDocument/2006/relationships/notesSlide" Target="/ppt/notesSlides/notesSlide14.xml" Id="Rc596d6c8d2ca43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ffefd35de44e5" /><Relationship Type="http://schemas.openxmlformats.org/officeDocument/2006/relationships/notesSlide" Target="/ppt/notesSlides/notesSlide15.xml" Id="R66c5f907a26c49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cf2d289c14b92" /><Relationship Type="http://schemas.openxmlformats.org/officeDocument/2006/relationships/notesSlide" Target="/ppt/notesSlides/notesSlide16.xml" Id="R8f2645531a834a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0dd2d42b74c6d" /><Relationship Type="http://schemas.openxmlformats.org/officeDocument/2006/relationships/notesSlide" Target="/ppt/notesSlides/notesSlide17.xml" Id="R4fd894826e7149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17562fa234c74" /><Relationship Type="http://schemas.openxmlformats.org/officeDocument/2006/relationships/notesSlide" Target="/ppt/notesSlides/notesSlide18.xml" Id="Rda0105166c53466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cfe91c27b49ff" /><Relationship Type="http://schemas.openxmlformats.org/officeDocument/2006/relationships/notesSlide" Target="/ppt/notesSlides/notesSlide19.xml" Id="Rd5433aa6ff1b47c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9b95bb648494c" /><Relationship Type="http://schemas.openxmlformats.org/officeDocument/2006/relationships/notesSlide" Target="/ppt/notesSlides/notesSlide20.xml" Id="Rc67ff195234446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23bcecdaf4b1f" /><Relationship Type="http://schemas.openxmlformats.org/officeDocument/2006/relationships/notesSlide" Target="/ppt/notesSlides/notesSlide21.xml" Id="R9b8d656b480f40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b7a9c4121452d" /><Relationship Type="http://schemas.openxmlformats.org/officeDocument/2006/relationships/notesSlide" Target="/ppt/notesSlides/notesSlide22.xml" Id="R77bc63d0ee544fd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e37f6201c48c3" /><Relationship Type="http://schemas.openxmlformats.org/officeDocument/2006/relationships/notesSlide" Target="/ppt/notesSlides/notesSlide23.xml" Id="Rf7d4c69c90ae4c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BDB2F9-06AB-4E54-B9F8-63BD45F2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1169D-AB07-448F-A05F-B8FD74BB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D33"/>
          </a:solidFill>
          <a:ln xmlns:a="http://schemas.openxmlformats.org/drawingml/2006/main" w="0">
            <a:solidFill>
              <a:srgbClr val="0F1D3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E6540-95C9-417D-A77B-ED44283E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-1238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4C"/>
          </a:solidFill>
          <a:ln xmlns:a="http://schemas.openxmlformats.org/drawingml/2006/main" w="0">
            <a:solidFill>
              <a:srgbClr val="123D4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EDE9F-2235-4A29-AD9E-351D96C0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95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260"/>
          </a:solidFill>
          <a:ln xmlns:a="http://schemas.openxmlformats.org/drawingml/2006/main" w="0">
            <a:solidFill>
              <a:srgbClr val="1532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1FE67-4F1E-447E-9D71-870ED0AC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3048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物联网技术开发 · 题目一 · 课程设计报告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ED69B-90AD-46E2-A858-E66148EC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基于 MQTT 的智能温湿度环境监测与异常报警系统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D39F5-3DDB-4574-B972-4869E6B3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D7E1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E1F3"/>
                </a:solidFill>
                <a:latin typeface="Aptos"/>
                <a:ea typeface="Aptos"/>
                <a:cs typeface="Aptos"/>
              </a:rPr>
              <a:t>Python 模拟采集 / MQTT 发布订阅 / Spring Boot 处理 / Vue + ECharts 可视化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32FC5-C275-4FF6-AC80-F9E44956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38187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F37"/>
          </a:solidFill>
          <a:ln xmlns:a="http://schemas.openxmlformats.org/drawingml/2006/main" w="9525">
            <a:solidFill>
              <a:srgbClr val="2843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80300-3B23-4A10-B740-5A7DC434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提交命名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26792-3475-4BB8-9F47-4F8FBE54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671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物联网考核-学号1-姓名1-学号2-姓名2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201A7-CAAA-4D03-8D9E-1E3138F3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671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9C6D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6DA"/>
                </a:solidFill>
                <a:latin typeface="Aptos"/>
                <a:ea typeface="Aptos"/>
                <a:cs typeface="Aptos"/>
              </a:rPr>
              <a:t>小组成员：学号1 姓名1  /  学号2 姓名2    截止时间：2026-07-06 23:59 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00398-7017-4F65-9A94-DB24CC0D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1619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D20DD-1785-4031-A781-57DFD2BB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621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MQTT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6BC44-DE08-4012-BD45-915E071D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47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Topic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QoS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B6E3E-27C7-4CE7-A850-BC4A5FF8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57500"/>
            <a:ext cx="1619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ED85A-0B93-4CC2-8023-6FBA07C6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908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5A867-40C2-47C3-AD49-E1584553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7660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滤波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报警诊断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8697E-7E76-4EED-9327-A2319CF6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1619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F3AA6-22E7-4630-886A-95129FE1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C1393-7546-472F-A64D-FFB2DACB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2440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实时监控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CSV 导出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8EC5C-A1FC-4F6A-84D3-90B3D70C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05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B9C6DA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B9C6DA"/>
                </a:solidFill>
                <a:latin typeface="Consolas"/>
                <a:ea typeface="Consolas"/>
                <a:cs typeface="Consolas"/>
              </a:rPr>
              <a:t>01/23</a:t>
            </a:r>
          </a:p>
        </p:txBody>
      </p:sp>
    </p:spTree>
    <p:extLst>
      <p:ext uri="{BB962C8B-B14F-4D97-AF65-F5344CB8AC3E}">
        <p14:creationId xmlns:p14="http://schemas.microsoft.com/office/powerpoint/2010/main" val="353055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B105A7-2B4E-4C12-86E8-3835FE00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COURSE REQUIREMENTS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EE6CB-CB12-4D35-A7D6-B67EA69E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课程要求与项目材料对应说明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7D974-FDBA-4813-9C15-A4313594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本项目材料围绕方案设计、功能实现、PPT 表达和提交规范组织。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B1530-0C7E-4B1E-8DF3-653FD266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F2707-84B7-4E45-96C1-B830D131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0A272-59F6-47D8-8921-9B17D5CE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F90AA-92C4-448A-816A-4AD5DABE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FBAC8-D5FF-422F-98B5-61C5B38A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D7C7A-F2CA-49EA-AC22-7B1676C8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9C28D-84A0-4C5F-BA92-7D4319D0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669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要求项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431B9-4E9D-4A8E-AFF8-743B9C56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0975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4386F-BE94-40E3-A3C2-7F3A7417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66900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课程要求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C9358-3339-4463-987D-AC0155BD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0975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7C526-BC05-4181-9E21-1F04BF81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866900"/>
            <a:ext cx="478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项目材料体现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33039-DB71-473A-972A-7B8F4F7C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809750"/>
            <a:ext cx="123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966DF-7B55-4735-AE78-9B86018A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1866900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分值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18B48-81B7-4DC2-8075-AAC46A56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25E9C-0E38-40B0-9DF3-10D8206A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146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方案设计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5431F9-E812-4623-A335-CAC9D9CD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0AC0D-15AD-4A90-8B09-F6A1D27D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514600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介绍项目、思路、方法、逻辑、问题、解决、环境和运行方法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4275D-423D-4CEA-9FF1-72A8CCF7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5745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18958-9C39-4BEC-81C9-9A56AEEB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514600"/>
            <a:ext cx="478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第 3-18 页完整说明目标、架构、协议、数据流、运行环境、运行命令和测试方法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75E843-D0ED-416E-BB79-EA57EDE1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57450"/>
            <a:ext cx="123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56CEC7-400A-441E-8AC2-13BF93C4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514600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E70C8E-C767-4CAB-8337-D8FF468A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419FF4-0506-4AB0-A5F1-34BF5F76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623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功能实现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BCEABC-F10B-4D01-9539-558F2844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4060BA-4386-4C84-A810-6167CCCB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162300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压缩包包含源代码、可执行程序/可构建程序、运行说明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BF312C-CBC3-4538-AEF0-83D1618C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0515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F842A5-0D77-46CA-B8D3-3E3ABDEE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62300"/>
            <a:ext cx="478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第 17、20、22 页说明代码结构、Docker 构建、运行文档和附件清单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9C9F55-D99B-446C-99DA-9E0160F8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105150"/>
            <a:ext cx="123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0D6F52-252A-4726-ACF8-C2A770ED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162300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4B1421-44FE-4CD1-91D7-F4D7A363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07AFCD-83BF-451C-B7DA-DBA754F8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100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PPT 表达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3D64DE-86C8-434E-8D10-F5D0832B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5285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6E4862-418F-4DE5-A46B-17D599BC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810000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清晰讲清思路，能说明问题与设计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7FCF2E-FB04-460D-9EAB-87AAB93A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5285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191792-9AED-48D3-8B0B-BFE8D691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810000"/>
            <a:ext cx="478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第 4、19 页专门说明设计逻辑、遇到的问题和解决方法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5384F4-7D44-41A3-AAE0-ED6F16BC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752850"/>
            <a:ext cx="123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233757-C1A3-4AB6-A520-BE751EB6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810000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E590C0-C31F-4BB1-BF5E-9BF668D1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23FBD2-2A5D-4338-87CD-05E67B3E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577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提交规范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27F950-6A68-4614-8131-0CD1B067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0055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847797-1851-4FD1-A387-24D1B9B1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457700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两人一组，PPT 与压缩包同名，邮件主题一致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02A88D-D830-4272-9C65-6C6CFA3B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0055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856028-8145-4936-B886-5AA3217C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457700"/>
            <a:ext cx="478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封面和第 22 页列出命名模板、附件要求、收件邮箱和截止时间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668F2B-1615-4D43-B225-EABC669D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00550"/>
            <a:ext cx="123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FB3C64-649B-4207-9C1A-3C79C476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457700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提交门槛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EEE43C-5AA8-4BBC-92E6-65BCB3F8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101346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3E7E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187EC8-4745-4E05-93CF-7B673F33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34EA20-28F1-4D80-91E3-4831F1ED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材料组织说明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2642E7-587F-4B3F-A93A-60513D52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13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PPT 以项目说明书形式呈现，覆盖设计原因、实现路径、运行命令、测试结果、问题处理和提交附件要求。</a:t>
            </a:r>
          </a:p>
        </p:txBody>
      </p:sp>
    </p:spTree>
    <p:extLst>
      <p:ext uri="{BB962C8B-B14F-4D97-AF65-F5344CB8AC3E}">
        <p14:creationId xmlns:p14="http://schemas.microsoft.com/office/powerpoint/2010/main" val="1058544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C66F1A-44CD-463B-8084-3C21E9E2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752AE-1D23-44D7-B2A6-7F9812DA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项目目标：构建可运行的模拟环境监测物联网系统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DD832-A63A-4B58-BFF4-A25491C2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系统完成从数据采集、网络传输、后端处理到前端展示的完整闭环。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1B79D-DEF8-4117-9F4D-28C3E617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AB64F-782D-447E-828A-01CA033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6A86C-12B3-4599-BFB5-98D06CA9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F592D-1574-45A8-8370-23D82CF2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50C55-6498-4416-8197-D1BC2CA7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672D3-ADEE-465A-ABE1-088AEA69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一句话概括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AD058-7288-4499-AA41-8EEF07C2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使用电脑模拟温湿度传感器，通过 MQTT 协议上传到 Broker，后端完成滤波、异常检测和报警诊断，前端实时展示曲线、设备状态、报警记录和历史数据。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068A8-377F-4F92-9FB7-CDDF6920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99333-BBBE-4F68-96DF-C1F6D87E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8112F-4957-4D47-A2F3-F8A7882A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采集端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79BAE-467E-4659-A82B-CD6E15F2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1981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Python 生成温度、湿度、序号、状态，并可模拟噪声、跳变、丢包和离线。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34AD8-8257-4F50-B36B-37C99B99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CB569-21E9-48FF-87C0-BC8196E4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3178B-CAB7-4426-A41B-4FB267DA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861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网络层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E1793F-E827-433E-AD04-E9752056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1981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EMQX / MQTT Broker 负责 Topic 路由，系统采用 QoS 1 提升数据送达可靠性。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2CFCB-74E1-40D1-8208-57247FB0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15E84-6E2C-42D3-8E52-5A3E5AF0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BEB39-D678-43A8-872E-CDB33D2B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平台层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1708E0-3595-43FF-8B81-DAC4D869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1981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Spring Boot 订阅 MQTT，解析 JSON，执行滤波、报警判断和 WebSocket 推送。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74E86B-085D-4690-ADD0-47719CAB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9493E8-0FCC-4E75-8AE7-A6A25A43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3D3435-65F1-4542-B6F3-DEC7C8BA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861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应用层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6035F8-3706-48F9-8798-EE00E2C4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90950"/>
            <a:ext cx="1981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Vue + ECharts 展示实时曲线、报警历史、数据归档，并支持 CSV 导出。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7A01B-7D46-4E4C-94CF-A5BBDCE4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0366B-2774-4CB6-B315-ABAF23E1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625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CORE PATH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FBC0BD-2DC2-48F5-A642-2CDFA111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02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00A6A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0A6A6"/>
                </a:solidFill>
                <a:latin typeface="Aptos Display"/>
                <a:ea typeface="Aptos Display"/>
                <a:cs typeface="Aptos Display"/>
              </a:rPr>
              <a:t>4层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BFBC54-3B19-4805-82F3-3532D3E1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674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感知 / 网络 / 平台 / 应用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9B10A5-B896-44D1-95E0-270C86F5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91125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9FF21C-807D-4CB5-8A3C-ABB64777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3625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PROTOCOL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BA9BE3-D90A-4C05-AAE8-34087263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6102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MQTT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73C0A5-D445-4417-8D34-F50B7221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0674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发布订阅 + Topic 路由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BFA2F4-0B9B-45AA-934C-407820C6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91125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9D0708-C546-4209-9D07-7B2603A8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625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ALARMS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21D52F-61C0-4F9E-90CF-9CF94212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102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6类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3D21C7-2AF8-4025-8DDF-FF60A776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0674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阈值 / 跳变 / 丢包 / 离线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6D6520-A8D6-45B2-A54E-D7D0F58E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191125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43E025-2CAB-49AD-8BF4-DF200383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3625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DEPLOY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B4E4EF-1A13-4DC4-96A4-B897ED9E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6102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A34A"/>
                </a:solidFill>
                <a:latin typeface="Aptos Display"/>
                <a:ea typeface="Aptos Display"/>
                <a:cs typeface="Aptos Display"/>
              </a:rPr>
              <a:t>Docker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61A4A1-369B-4A47-ACA0-472810E0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0674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一键启动完整链路</a:t>
            </a:r>
          </a:p>
        </p:txBody>
      </p:sp>
    </p:spTree>
    <p:extLst>
      <p:ext uri="{BB962C8B-B14F-4D97-AF65-F5344CB8AC3E}">
        <p14:creationId xmlns:p14="http://schemas.microsoft.com/office/powerpoint/2010/main" val="11729245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7158A1-1EF4-4EAE-B362-C9346BEC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DESIGN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1F5B2-FE44-40C3-95BC-14BC49A9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整体思路、方法与实现逻辑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3DB8F-9B9D-41C9-B702-E15EB9F5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先解决物联网数据如何稳定上报，再解决数据可信、异常可解释和界面可观察。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D7B6E-31A6-4E6C-AF12-08587794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48E45-1C0B-45BF-A629-02394962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8495D-5FAA-4A42-B4AD-81B2B4C6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54C96-5A68-4B63-A4A6-4AC89247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E6422-D645-490E-BFCC-D81BEA86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4/23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EF7F6-E8F7-4108-98AF-5D039284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905000" cy="2190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A6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DB525-BFEC-4AB2-811C-451F9E1C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B50CF-F73A-4AEC-9D01-91DF5DF2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明确场景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99ABA-DEC7-408B-8BCD-CE270138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温湿度节点周期性上报，数据小、频率高、需要解耦前后端。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84EBE-10F9-44D6-BFFD-0ADB73BD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05125"/>
            <a:ext cx="342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69D7A-5DB4-4783-8620-148FB8F4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1905000" cy="2190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996C0-DF5A-4467-9833-61FA6C49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28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D8987-8EC4-4F47-9CD3-0BDA34BC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43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选择协议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C3F4F-45E4-48FA-B3D6-C9B53590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49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用 MQTT 替代手写 TCP 应用层协议，复用 Topic、QoS、Keep Alive。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E1174-3B6C-49A5-9506-E03DA9FC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905125"/>
            <a:ext cx="342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5914AD-7EB6-4DC7-A2B7-6BF63C9C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00250"/>
            <a:ext cx="1905000" cy="2190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1B610-67DA-4559-BD3D-36DCA4C2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28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8A85A-74C9-4095-898F-CF6D8F47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43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设计数据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5FB77-79F6-4FB2-A20B-CD2FC3B6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8135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用 JSON 定义设备编号、序号、时间、温湿度和状态。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2CEC8-00DC-4602-B41C-1E944A34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905125"/>
            <a:ext cx="342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00BAE1-EA83-494C-A3FA-8D0A8409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1905000" cy="2190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2D2D8E-C079-40C4-97CE-6066EDC8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28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FAD90A-A559-4E4A-8140-88C25600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处理异常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570A3-2075-413C-9BB4-CFB86B8C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8135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后端对跳变、丢包、离线、超限进行识别、隔离和报警。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68C65D-F210-4D29-A7C4-ED3BF0AD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05125"/>
            <a:ext cx="342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2086A8-1248-46B0-B2BE-6F5DDDC4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905000" cy="2190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39AFA-97B3-4DC1-B2F2-85C4A058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288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6A34A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DCBEE7-14C2-45C3-92D4-1602A568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43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实时展示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1DA700-C211-4FD3-BDEA-6EE00CEC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后端实时推送处理结果，前端绘制曲线并展示诊断建议。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40729C-FA51-4690-9356-5027B285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698EA5-79DE-4D5D-A4BE-8FFA5799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10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方法总结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587E76-CB0E-4BCD-AFB7-B8EF8D4A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339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5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项目不是简单页面展示，而是围绕“数据从哪里来、如何传、是否可信、异常如何解释、如何复现运行”建立完整工程链路。</a:t>
            </a:r>
          </a:p>
        </p:txBody>
      </p:sp>
    </p:spTree>
    <p:extLst>
      <p:ext uri="{BB962C8B-B14F-4D97-AF65-F5344CB8AC3E}">
        <p14:creationId xmlns:p14="http://schemas.microsoft.com/office/powerpoint/2010/main" val="1592818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5ECBD7-EE01-456E-960B-3E02971F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PROTOCOL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878F7-520E-47E8-BC35-0E9AE817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为什么选择 MQTT，而不是直接使用 TCP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4733C-6825-4D1A-BC29-BFDC18EC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MQTT 基于 TCP，但补齐了物联网应用层常用能力。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5BA71-E7C3-4F9F-9487-63F65F92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89770-ECA1-4916-AE95-0648A96C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E8D99-699C-4EEA-AD76-FA1BF57E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59260-A18C-453F-9246-21D9DBDE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78DB8-DF94-4A2E-8209-E6311F78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5/23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E5002-7AE8-46CE-BB5E-5DDD9D98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CCC47-A071-44D7-B745-7520F1F4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669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对比项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D0F73-AF2B-4B29-B343-365F0615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80DFC-476B-4479-A066-D1670255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8669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MQTT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F41A2-405E-4F42-B97C-F3A51FB1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B1980-804B-4F39-96F7-AB9CCF1C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669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直接 TCP Socket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552DE-A806-428C-93CB-7ACCF060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F4BEF-DFF2-4779-9068-54183249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193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通信模式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72553-4381-4487-84D8-283A5D78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FF46E-F832-4E11-B5B7-D023CE7F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4193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发布 / 订阅，一次发布可被多个订阅者消费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B7B9A-5660-457C-BD19-2BC3BFEA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19B44-CE2B-402F-BA1D-C9C0F787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193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点对点连接，广播或多端分发需自行实现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A3A5F-3F11-41BE-B76D-0FF5D0D7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EC43B-C18C-4111-95A4-B04394F1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718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消息路由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E8329-F6F9-4545-AD6E-4FDF356D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146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A5D967-BD80-4829-AEC9-65E4C7AA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9718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通过 Topic 主题匹配自动路由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8E9BE7-D2EB-4E1A-A66A-3D8F97F9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E6D94F-2CD2-4062-B3F2-D71D017E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718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需要自行设计消息类型与路由逻辑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7D109B-DD6C-456F-BEFE-16A13E39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8EA16A-428A-4AB8-BE9D-09CDB0B3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5242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连接保活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A03A1D-4FF5-44E0-96A1-8D53C151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671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C4B32B-0BDC-4940-A31E-ECEF2A6D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5242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内置 Keep Alive，客户端库支持状态回调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3BBB06-B8FE-489D-BFBD-4083BE18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4D43D6-BC53-4812-86C7-2EFE093C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242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心跳、超时、重连都需应用层实现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46F3DA-D99A-47C8-AFB5-3401E544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3ACEB-6EC8-4E9F-B75B-99929F03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767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可靠性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0583DA-CD8D-4950-8E03-F98CDBE7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195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016934-9130-4421-A55A-BE03000D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0767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QoS 0/1/2 可按场景选择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9897A9-5FBE-4A06-B9B3-24BC13A8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D29AF9-CC57-4006-966B-3E527A7A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767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传输可靠但业务级确认与去重需自定义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7F3444-8E24-42B9-BA46-7F6BA894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600C3E-5516-4B05-8E0D-C565777F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291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适用性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32FA89-E794-430E-9149-5F5663D5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21E9D7-5E31-42EF-83F6-F26BE3CF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6291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轻量、低开销、物联网库生态成熟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FAAD86-C72E-402E-97D9-249BED86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CC0BF4-9860-41A3-9FBB-8F2B4FD7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291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通用传输层，工程量更大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302828-4FB2-40A2-9869-14F91D92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10648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87D766-830D-472A-8869-F66801CF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524B51-0BFC-4954-B870-D9DBF9A2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1024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本项目选择 QoS 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53E828-2B86-4AD8-AF7E-3C7F7894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温湿度数据需要尽量可靠送达；偶发重复可通过 seq 字段识别与容错。QoS 2 开销更高，不适合作为课程演示默认方案。</a:t>
            </a:r>
          </a:p>
        </p:txBody>
      </p:sp>
    </p:spTree>
    <p:extLst>
      <p:ext uri="{BB962C8B-B14F-4D97-AF65-F5344CB8AC3E}">
        <p14:creationId xmlns:p14="http://schemas.microsoft.com/office/powerpoint/2010/main" val="1723371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14816A-F5F0-470A-890B-C55335E3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13891-C587-4944-A895-8E0753D0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四层架构：从模拟采集到前端实时展示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71351-32EF-4351-B708-44A26A6E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系统按感知层、网络层、平台层和应用层拆分，模块职责清晰。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DDB01-0108-4798-8770-EB8BBC99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53E2C-B13C-4D00-9847-640666E2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35D77-652C-415D-87DB-7D44E402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160C1-0B31-45AB-8833-08A67543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0E2C6-36DD-4A9E-91AA-BC0321F7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6/23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926AF-5939-405C-97CB-88E4F59D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6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D66A8-C63C-4AC2-9AF0-8441AB03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感知层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F8E12-022E-4898-80B1-F24EEF20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828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Python Sensor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模拟温湿度、噪声与异常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82ECA-DBBE-42C9-BB4E-9D8FA321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62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采集上报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2DED1-9D5C-49D2-89EA-16C36D0A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67000"/>
            <a:ext cx="781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5B920-FED5-4246-A4D9-4BB53AD4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95500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65423-C0D7-48D7-8C09-888E3FB1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288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网络层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8DB99-2062-4B1A-AB0C-2017530C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14600"/>
            <a:ext cx="1828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MQTT Broker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Topic: iot/env/node001/data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0E04F-D8D9-4EAD-9A0A-6EFC5A84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62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消息路由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F519E4-63EA-4ABE-AAA4-7225DC85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67000"/>
            <a:ext cx="781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D9250-DF08-44A8-9428-10F9FBBA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95500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1B13D5-5173-4A98-B72A-D5588FEF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288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平台层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7F9878-2745-4DBF-8CAE-D7BFC31B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14600"/>
            <a:ext cx="1828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Spring Boot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订阅、滤波、报警、诊断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28BFC-4ADD-4380-93A3-377E8EE7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62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实时推送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0F1A62-259C-4578-BA15-2758BA3E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67000"/>
            <a:ext cx="781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DA679-CDB5-4031-AB41-D1252FAC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28053E-93C8-45BE-B432-452621C2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应用层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C03F52-9B16-442B-8736-44844F68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1828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Vue + ECharts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实时监控、报警、历史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996F33-6657-4F5A-9A01-70459454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62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6A34A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可视化交互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09C50-3705-4ACE-82D7-9654BDBC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363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A246D1-D359-4CB6-8F9C-82C7DC02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0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数据流向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8E3F46-9571-4104-8D55-0C1B655F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Sensor JSON  →  MQTT Publish / Subscribe  →  ProcessedData  →  WebSocket Push  →  Dashboard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13274A-2473-4F79-9FAD-20C29CBC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244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C7D2E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7D2E4"/>
                </a:solidFill>
                <a:latin typeface="Aptos"/>
                <a:ea typeface="Aptos"/>
                <a:cs typeface="Aptos"/>
              </a:rPr>
              <a:t>模块解耦后，采集端、后端和前端可以独立启动、测试和替换。</a:t>
            </a:r>
          </a:p>
        </p:txBody>
      </p:sp>
    </p:spTree>
    <p:extLst>
      <p:ext uri="{BB962C8B-B14F-4D97-AF65-F5344CB8AC3E}">
        <p14:creationId xmlns:p14="http://schemas.microsoft.com/office/powerpoint/2010/main" val="19128452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ABDAB6-F313-43F7-8443-1BB86F91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RUNTIME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BE356-AD04-484D-87E8-AC8D064D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程序运行环境与依赖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79C20-2A3B-4AD9-B7E5-209A6864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提交压缩包中包含 Docker 一键部署和本地分端启动两种运行方式。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78D6C-C5C8-46A5-A482-12F8DBF9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4D04E-45AF-495C-96F6-57FB205B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59D9D-3D1B-4B5E-8CA3-EEF27017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935FD-A48D-4740-9E6D-C94DCD0C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DE206-A79F-46B1-A5EF-8823FE1A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7/23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66A1B-300D-4E6D-9E03-C7C80E4C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76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A53AB-6650-4F0F-B91F-92977C88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19275"/>
            <a:ext cx="1590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模块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02188-FF41-4D77-8EB2-924AC669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7621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164AC-CC27-403E-A16E-1540B7F7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192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技术 / 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2BAA9-6217-4570-AA26-278370D0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7621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6AA25-63F0-45B1-BC05-64661D2E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1927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主要依赖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4A446-E70C-483B-9C27-96A3B32C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762125"/>
            <a:ext cx="352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7B62F-F5A0-412F-9EDA-71E5FF7E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1927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作用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B09FD-6DDB-4884-8EC8-68A8C721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176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C04EC-E66C-4AE2-8E94-C8488D67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3625"/>
            <a:ext cx="1590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MQTT Broker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73890-FB07-4C67-8403-80E744D8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764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DC56E-9AA8-4130-AFE7-F562A8EC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3362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EMQX 5.8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CED99-915F-4A9E-8883-63AA6BBB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764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36563F-BA8B-4AB8-B848-E5588ADF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3362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Docker 镜像 emqx/emqx:5.8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2A7D13-9A14-49C2-A3C6-AC630309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276475"/>
            <a:ext cx="352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13F19A-67A8-442B-A8C1-B13D7C2B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3362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接收发布数据并按 Topic 分发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8C1B53-2115-4266-AEFB-58BB08D4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176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00D30B-0062-4327-BFF7-A7B8B4A1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47975"/>
            <a:ext cx="1590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后端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0C133B-038C-43D5-8919-DADFD032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908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4F7050-A11B-49D9-ADCF-4DCD91A2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479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Java 17 / Spring Boot 3.2.5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B33372-16BC-4857-B6C8-98F0C677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908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A056DE-4A64-4E7E-A95D-D96B74F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4797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spring-web、websocket、Eclipse Paho 1.2.5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49FA4B-02EF-4BD0-97D2-E5E8E9AE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90825"/>
            <a:ext cx="352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DC8FF4-A073-40E8-8F43-612E3DA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4797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订阅 MQTT、处理数据、推送前端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0D6FAB-095F-4D31-A131-95AC3E17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05175"/>
            <a:ext cx="176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94409-5387-4885-9176-915633EF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1590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前端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946768-3462-4CC0-A880-3E53CCB1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051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F9BCFB-1309-4835-9A25-E7F82CC5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6232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Vue 3 / Vite / ECharts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0DB837-DAC7-486E-B997-C7539984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3051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789FA4-458D-4500-A131-B70BB533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6232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axios、vue-router、echarts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6F1B5E-FDAA-4971-A51F-1AE0BF35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305175"/>
            <a:ext cx="352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E0C41E-2A58-4426-A337-2C0BDC72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6232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展示实时监控、报警历史、历史数据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1D8C28-5378-444C-A72D-48FC6F72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176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68BC4E-DFD5-409F-80E3-01AA2737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76675"/>
            <a:ext cx="1590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模拟器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92B4DF-3984-45F2-92F5-76124075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195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B26261-E533-4472-9A6E-98F4B648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766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Python 3.x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6F95C7-C33F-481B-9C45-16607367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8195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31102A-F43E-4A5F-94BD-8EA927B1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7667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paho-mqtt、numpy、matplotlib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A3FC09-899B-4C12-AFAF-952A2093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52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196BA2-1CE5-4C07-ABF3-FA36DD3F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7667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生成温湿度数据并发布 MQTT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908F6A-1CD9-4A1C-8947-0CD76DB3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176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20C2D5-A0EB-4D51-990B-5B5A1CCA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91025"/>
            <a:ext cx="1590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部署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FE3C17-0053-4892-99DD-B08228ED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33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9CFF37-F87E-4861-A2AE-79218CC0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9102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764EFA-5B51-49C8-AD6A-42193B63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3338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2A4A42-D08F-4575-8D9C-16E71223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91025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docker-compose.yml / Dockerfile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EDF0F6-7B98-469E-9529-45B0A77D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333875"/>
            <a:ext cx="352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98F55E-A377-490A-95BC-FCE192C4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91025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一条命令构建并启动所有服务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090BA9-1945-4952-82C9-187D975B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9944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9ED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8E6D21-041F-4BA6-B882-747B5628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D891882-D895-45A1-AA10-EF9DAAC7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运行方式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341800-63BE-4C6C-8F8D-E8B27451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13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系统提供 Docker Compose 一键部署，可同时启动 EMQX、后端、前端和模拟器，降低本地 Java、Node、Python 版本差异带来的影响。</a:t>
            </a:r>
          </a:p>
        </p:txBody>
      </p:sp>
    </p:spTree>
    <p:extLst>
      <p:ext uri="{BB962C8B-B14F-4D97-AF65-F5344CB8AC3E}">
        <p14:creationId xmlns:p14="http://schemas.microsoft.com/office/powerpoint/2010/main" val="7587917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7302A4-3E2A-44C6-B772-12988E3E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DATA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A6C71-C85E-4918-B342-87EE2280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数据协议：Topic、JSON 与前端推送结构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7B567-0F54-44C9-838D-188BF38C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清晰的数据契约让 Python、Java、Vue 三端联调更稳定。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EF1C8-40D1-4E8F-9B2D-26028C98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1EF57-051B-47E8-A309-39D2C7AC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E99DC-C477-44A9-B7C6-8EF8F302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A2769-F16D-4850-9001-6EC4BFBF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D4430-900C-43E1-8F89-66688A10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8/23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72D07-9D2D-41C0-90D1-9CA47D79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429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3E7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E5287-87AD-4218-B1DC-068C9F67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89142-462F-497B-9E5B-F8B1F281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MQTT Topic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9EC20-199A-4416-9CC2-B0F0A20E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4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iot/env/node001/data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529EA-4C6C-4457-A629-01988260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3714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C6D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69491-148B-41D6-8509-43DE46F2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02E0E-FA03-4E69-9FD8-AABA7871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331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WebSocket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711B8-1145-4427-A35E-0AD5BA5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479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ws://localhost:8080/ws/sensor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B3E6F-D57A-4904-8247-A05EABD5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2952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8D6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C8CA9-FCC8-4F37-B8A3-B967F3DF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CD973-5BFA-47E9-8714-2CB8E69E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431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REST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D455B-021E-4BF6-9305-08CA690C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479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/api/health  /api/history  /api/alarms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C1E29-3237-46ED-A62E-24B2055C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762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E2E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0CC7F-B723-4E91-A525-7D12D85C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传感器上报 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F5E45-153D-4F28-B31F-260E6514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  "deviceId": "env-node-001",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  "seq": 1001,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  "timestamp": "2026-06-15 20:30:00",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  "temperature": 28.6,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  "humidity": 65.2,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  "status": "normal"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EE87C1-BFC4-451B-AB22-F6925E3D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88672F-45DC-445A-9E65-F7BCB7D9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385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字段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0D5C47-9442-4CD2-8EBC-0EE68306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3286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FCE9E4-4AFE-4B7C-92B0-EB5C97E7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38500"/>
            <a:ext cx="3114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设计作用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F1E898-B67A-43C9-8212-0EDBF254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B72BB9-9B5F-43A2-988B-3460E427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385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deviceId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3AB980-C2D9-4870-9E5A-79AE7458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3286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2455AA-6BCD-497B-A051-72D11473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638550"/>
            <a:ext cx="3114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标识数据来源，便于后续多设备扩展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08D1AA-7A26-41D9-8CB6-C0D2BBA1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91EF95-1FEC-488A-8E29-A553081A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386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seq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240355-E422-42C2-ADCF-AD048D0B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3286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AAABF7-1AA7-4375-9268-BD406FE1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038600"/>
            <a:ext cx="3114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用于检测丢包和乱序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E590A1-0E2F-4970-9737-10221510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815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C32A8B-116D-4DA6-9F3C-44F4C35F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4386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timestamp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A5B7D2-DFD6-4F11-B5A9-5DADA42E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3286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83E94F-6459-4211-9C48-E010FF0A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438650"/>
            <a:ext cx="3114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保留采集时间，支撑历史查询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C0928C-9949-4452-A0A1-C553F355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E42FAB-5341-4B28-85F2-A281E4B8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3870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temperature / humidity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046E31-C4C6-49DD-9EBE-EA28F653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81550"/>
            <a:ext cx="3286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76B393-D966-49E7-A571-E710703E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38700"/>
            <a:ext cx="3114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原始温湿度采样值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AF59A7-DAAB-436B-A400-978B86B4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816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57D40B-0582-427E-96A8-A3DF2FBD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238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4C6D9B-EC0B-4610-A18F-03728106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81600"/>
            <a:ext cx="3286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0F4C95-8F16-4064-9E0B-B22E452C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238750"/>
            <a:ext cx="3114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标记 normal、jump、lost、offline 等状态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34B828-275D-47DD-A5BB-F1E5BCEB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0058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9B830F-804C-4340-A5E0-6C059E72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6264BA-ED2F-4237-BFB7-0596EC5D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15000"/>
            <a:ext cx="963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选择 JSON 的原因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758ABA-277D-4B72-87C9-2864D769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62650"/>
            <a:ext cx="963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可读性强、Python/Java/Vue 解析方便、字段自描述；后续增加 PM2.5、光照、烟雾等字段时无需重写协议。</a:t>
            </a:r>
          </a:p>
        </p:txBody>
      </p:sp>
    </p:spTree>
    <p:extLst>
      <p:ext uri="{BB962C8B-B14F-4D97-AF65-F5344CB8AC3E}">
        <p14:creationId xmlns:p14="http://schemas.microsoft.com/office/powerpoint/2010/main" val="467266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6E2CA7-FB84-4950-8297-A57059DA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SENSOR SIMULATION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92CF0-4DF9-4D05-8B3C-40D4DCA0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模拟器：可重复演示的温湿度数据生成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2A7D6-7E2F-4299-BE8E-E14BE289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模拟器不依赖真实硬件，便于课堂提交、录屏和自动化测试。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2087A-AEC6-4975-8852-F811ECB9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E4807-2A18-4211-88CA-816EBAB9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259E0-A0F2-438E-B0EE-31DC8B4A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E470E-3D44-40C8-9816-F86EC0D1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DDA9C-9DD7-4667-A353-B4E0D73D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9/23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D359A-1C6C-40C3-BCBD-86279A9E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F10C2-80E1-4E53-A027-09923185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数据生成方法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EE37D-3445-482B-BB94-AA59009C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191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1. 设置基础温度和湿度区间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2. 加入小范围随机噪声模拟真实采样抖动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3. 使用 seq 递增标识每条数据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4. 按 publish interval 周期发布 MQTT 消息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5. demo 模式按固定顺序触发异常，保证可复现演示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3B3AE-5FDA-417A-A3AD-36C66C7D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572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9078F-CAA5-4A89-9D71-8C882F90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Demo 序列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AE2EF-B316-4B67-8925-B8F6D45E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3638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8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正常 → 跳变 → 高温 → 高湿 → 复合报警 → 丢包 → 离线 → 恢复正常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2D8D9-70BC-4E7F-A158-9121AABE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3638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C7D2E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2E4"/>
                </a:solidFill>
                <a:latin typeface="Aptos"/>
                <a:ea typeface="Aptos"/>
                <a:cs typeface="Aptos"/>
              </a:rPr>
              <a:t>这样录制系统讲解视频时，不需要手工临时修改数据，也能稳定复现异常效果。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8F23C-E6FF-4779-8368-63D4EADA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14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3E7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6499A-0B32-4380-A3D0-1183ACA7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39AAE-25D1-4C73-9302-9A8D02C0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0070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运行命令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BF37B-8680-45B1-ACBF-D068BDFE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872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13" b="0">
                <a:solidFill>
                  <a:srgbClr val="243044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243044"/>
                </a:solidFill>
                <a:latin typeface="Consolas"/>
                <a:ea typeface="Consolas"/>
                <a:cs typeface="Consolas"/>
              </a:rPr>
              <a:t>cd sensor-simulator  &amp;&amp;  python mqtt_publisher.py --mode demo</a:t>
            </a:r>
          </a:p>
        </p:txBody>
      </p:sp>
    </p:spTree>
    <p:extLst>
      <p:ext uri="{BB962C8B-B14F-4D97-AF65-F5344CB8AC3E}">
        <p14:creationId xmlns:p14="http://schemas.microsoft.com/office/powerpoint/2010/main" val="8211696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E8E7CE-2A5D-4326-B758-1BF59402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ABNORMAL INJECTION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261DB-DA78-4C6A-931C-4B366ABB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异常数据模拟：让报警和容错逻辑可验证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2207C-FC24-4C1F-88FF-00C0C4DF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本项目不仅展示正常曲线，还主动制造异常来验证后端处理能力。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57B26-5A1E-44CF-B543-AB524921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23C49-6667-4B70-B198-8D5109BE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56DA3-EEDF-4FB9-9B49-54E7B868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5134C-6AF6-4DC4-AE15-7B705D65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99778-87FD-4C08-8068-A06D59FC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10/23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70B8B-2751-467D-A562-70143654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BC606-187F-4365-B539-F591EFDB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669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异常类型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BA114-4225-4F7C-88A7-1F36A899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097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A0BD5-F77F-498E-A5CD-C6CE9171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8669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模拟方式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7CE74-7301-4E13-ABC0-A4C66F67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09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D0EDB-CEB7-41E2-97FB-B03222D1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6690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识别依据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10177-5155-49F9-9589-BCEF9DB8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B1E2A-7FCC-4257-AF34-0A7498EC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66900"/>
            <a:ext cx="335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系统处理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4A424-8F85-4DDB-8735-73A1CCF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60520-5C24-4612-9CA5-6F3CC8C2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384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随机噪声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60459-0712-4741-8779-EF6CD797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812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ED714-755E-4BEA-B276-AC8A1D73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384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正常值加入小范围波动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CDE90-9F28-4895-8F27-89D343B7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812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CD3A1-407B-49A4-9DB7-23A3FD30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3840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数值轻微抖动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61203-58AD-42E2-B9C0-25CE00B9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0FC92E-F7A2-47BD-A4CC-553C5E43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38400"/>
            <a:ext cx="335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进入滑动平均窗口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95F56B-F27E-4048-9C7B-C69AAE40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329F40-C214-4C27-8203-7360067C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99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跳变异常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498C8-7D3B-4EC2-9A8F-F232EA5A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527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C964A0-B094-43E9-B8D7-A4876110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99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温湿度突然大幅偏移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C79301-E61F-4701-BBE8-34D8CD5C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52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36C66F-BE95-44C0-84BA-0EF74572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0990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与上一有效值差值超阈值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205AA8-24CD-4A5B-8F40-DE4CBD14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5275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220467-AA2A-441F-A194-D7AB2C00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9900"/>
            <a:ext cx="335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标记 outlier，不污染滤波结果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B56DC9-B2CB-4315-ACAF-18FAAE0C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4A1629-8BEB-4C3F-B9AF-A7BF3333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814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高温 / 高湿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66486B-03F3-4AA3-8507-D366F6E5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242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D71520-216A-4FE8-982A-487CF0C6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5814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制造超过阈值的数据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DD03BF-F3BF-4BF3-A70E-6D7DA5A2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242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C4C1E5-27EA-4CB7-B188-C53C48C4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8140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温度 &gt;35℃ 或湿度 &gt;80%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301B9E-2C10-4D0D-A137-AB60D357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2425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75110D-15E7-47D0-8A5F-4639A232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81400"/>
            <a:ext cx="335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生成报警记录和诊断建议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C382F4-847D-4013-8DEC-84A2FEA8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ACCEA6-D23C-49EE-B9C5-5212EF1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29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丢包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CA88B5-D1A8-420E-AEA9-367D270B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957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5C665F-36E2-4AEC-BD1A-E07C2275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529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模拟某次不发布消息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18AF42-4E47-4A25-90D9-E10DE7A2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48B4C7-A7C9-450B-AB00-E2529809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5290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seq 不连续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757082-9A89-403A-A6BF-374DD4C3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9575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CE81F4-FAFA-42C0-AFF5-6EE48040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52900"/>
            <a:ext cx="335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触发 PACKET_LOSS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7FD9BB-6AFD-4684-AAB1-DDB1975C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772BFD-041F-46FD-AAC7-5F73A8E6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244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离线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EBC774-465F-49BC-A5A2-7341AEAE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672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1BE254-648E-4DC8-B368-9ABF82CF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244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发布 offline 状态后暂停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530FC6-F210-4A7B-9392-F5CC6385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72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30047E-3067-4CF4-888D-380120FF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72440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status=offline 或长时间无数据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A17A97-75FB-4249-A816-57042BC5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6725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673008-70C4-490B-A1C7-6DAEF378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24400"/>
            <a:ext cx="335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触发 DEVICE_OFFLINE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9BD028-F621-4193-9065-A002E5DD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10200"/>
            <a:ext cx="96964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E2E2"/>
          </a:solidFill>
          <a:ln xmlns:a="http://schemas.openxmlformats.org/drawingml/2006/main" w="9525">
            <a:solidFill>
              <a:srgbClr val="FFC2C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2D356B-544E-48B1-B4FF-5F0BA6FE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102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0670F8-39A5-446A-BF5B-C07A67D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43550"/>
            <a:ext cx="927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设计价值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0017E3-A02B-4CDB-B1D4-81B0499C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91200"/>
            <a:ext cx="927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13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异常注入让系统具备可测试性：无需真实传感器，也能从前端页面和日志中观察异常发生、后端识别和恢复过程。</a:t>
            </a:r>
          </a:p>
        </p:txBody>
      </p:sp>
    </p:spTree>
    <p:extLst>
      <p:ext uri="{BB962C8B-B14F-4D97-AF65-F5344CB8AC3E}">
        <p14:creationId xmlns:p14="http://schemas.microsoft.com/office/powerpoint/2010/main" val="20974301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ED05AF-D84B-4D58-9589-7E16FEC3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RECONNECT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7C0FD-735D-4AF8-A25D-A927323E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断线自动重连：发布端、后端与前端分别处理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3F1F7-A048-45A1-B603-EE3BF2AC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断线重连是物联网系统稳定性的关键，本项目在三端做了不同层级的恢复策略。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2F4FD-BAE0-4AE9-B266-9A352D1E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677D2-8F56-43B7-B42B-FE979B8C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E17DC-B50B-4A6F-82EC-5D05D5C0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547D-1840-47AE-971D-43A30112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AEB47-1486-4E46-B10A-DD89A691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11/23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63AEC-AA94-44AE-9A3C-790BC30A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5031A-DCB1-486E-A509-AA4FB58E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F3427-C3A6-4FBD-8DB0-6BA3BE7E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Python 发布端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32E60-DCCD-4A24-B156-F86A82F3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7432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连接失败后进入指数退避重试：1s、2s、4s、8s，最高 30s；Broker 恢复后继续发布。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076BF-3195-4E49-88CF-41AFEF57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1AA03-B353-4310-A03E-D894032B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905B3-DBF2-4184-AE1A-51E763F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526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Spring Boot 后端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714A1-BD6A-45A8-8E1C-C6773E99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7432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Paho 开启 automaticReconnect；connectComplete 回调中重新订阅 Topic，避免 Broker 重启后丢订阅。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2C074-B2C9-4540-A193-AD14327C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586BD3-B0F7-4C6A-9DF3-3DB7156B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87E2E-429D-4D78-9DD1-0BC12016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Vue 前端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A4B22-1489-4704-933F-3006D1FE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27432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页面展示 WebSocket 与后端推送连接状态，断开后提示重连和最后更新时间。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8C6C4B-6E54-40EB-AE5A-1EDFE2A5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962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EA111-3869-45AE-A623-40072FB2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53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关键修正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2DA7F-56A6-471C-9C4C-EC92052D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577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07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模拟器在离线前先发送 offline 状态包；后端恢复连接后重新订阅 Topic；前端文案明确显示 WebSocket 后端推送连接，避免误写为 MQTT 连接。</a:t>
            </a:r>
          </a:p>
        </p:txBody>
      </p:sp>
    </p:spTree>
    <p:extLst>
      <p:ext uri="{BB962C8B-B14F-4D97-AF65-F5344CB8AC3E}">
        <p14:creationId xmlns:p14="http://schemas.microsoft.com/office/powerpoint/2010/main" val="4557902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A08CB0-F5CC-4A31-83F2-6CF56192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BACKEND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F13C0-E9BF-4CFE-A60C-4B0962C7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后端处理：从 MQTT 消息到 WebSocket 推送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14B8E-96EE-40A8-B054-EB3A0D9A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Spring Boot 后端承担协议订阅、数据清洗、报警判断和实时推送职责。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C2F0D-2C5A-4002-BC09-D8585D4A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FC09D-749F-464E-A692-7DF671A6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22541-6D4D-4FB2-854C-4700204A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B90A8-3BA6-4757-93F4-B7651BDC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98C36-9F17-4E1D-932D-D73D762A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7B5EE-D3F4-4A5A-9973-17B01C6D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524000" cy="18097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A6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E0748-B1E6-4357-B692-BAEA4DA4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6E47E-E9FE-4829-8B51-C51A465C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MQTT 订阅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B5E29-1403-4F6E-AE5E-46D02CD8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337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Paho Client 订阅 Topic，QoS=1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08281-6193-4DC6-8CC8-417D9969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38450"/>
            <a:ext cx="342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055C2-99A3-4CEB-A837-5E52BC85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95500"/>
            <a:ext cx="1524000" cy="18097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FA63C-0845-431C-9FDB-4ABA75D9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145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2E5E6-5B4A-467A-B1E6-6E1EB6F2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JSON 解析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E18D8-56AD-4D66-A5AC-ADEEC566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337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1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解析 deviceId、seq、温湿度、status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1A8EE-D861-46D6-92F2-B8764240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38450"/>
            <a:ext cx="342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5DBF5-938A-448E-BD78-FCB7D325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1524000" cy="18097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A6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B626FB-D58E-4884-BA95-0B63111C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145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5A73D1-75AC-4E5F-A42E-A01A388F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异常检测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7E240-0975-47D4-80C8-8FAD66C5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337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跳变、丢包、离线、阈值超限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7A566E-6A15-40F8-B3E6-F3FB4D36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38450"/>
            <a:ext cx="342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D918B-075C-4553-8E92-0441CC89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1524000" cy="18097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5D491-5D51-4AD8-9CA2-7D333255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145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F1D0CD-0238-4DBB-880F-A68830CE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滤波处理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48286B-186D-4F2C-847F-6C795CEF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正常点进入滑动平均窗口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07D9C5-F1BF-4AEE-ACC1-2DCC533E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38450"/>
            <a:ext cx="342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1D78BE-308C-4E89-AB96-9DA173E5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1524000" cy="18097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A6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EDB207-AB2C-46BD-AA13-29795FE5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145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B99C5-E146-416F-8CAE-96939AE1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报警诊断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A61556-63EC-4689-AC43-FF13EE88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337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1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生成 alarmType 与 diagnosisAdvice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D458A5-AA98-4E44-91D1-C257A7F5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38450"/>
            <a:ext cx="3429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6BA156-CA8B-4FE7-92B8-B782BDA6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95500"/>
            <a:ext cx="1524000" cy="18097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563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4CD6F5-37F5-48D9-BF9A-14BE4CF8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145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464854-4D59-4A6F-B449-769DBF7D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前端推送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5F3344-D1E0-4C30-BB3B-E2CE6C9B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337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WebSocket 实时广播给 Vue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A61BC1-9AE3-4480-9AE4-8833E917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4762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D7B857-BD00-4F24-A1CD-087354F3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900CA1-B199-40B8-A5E9-4A69EAC4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1490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后端输出对象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BC30CD-59C3-4FE3-B722-1DE5EFBB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统一输出原始值、滤波值、状态、报警类型和诊断建议，前端无需重复判断业务规则。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0FAC5C-2BEA-4BBA-B47E-EAA90771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762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DEDB7D-3A10-42AF-89A5-CD8E9C39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A4686A-C6A7-4332-8DC4-F6BE9DB3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436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内存数据存储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D98B1F-879C-4F94-9432-922E7999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197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课程项目采用内存列表保存最近历史和报警记录，便于演示；后续可替换为 InfluxDB / TDengine。</a:t>
            </a:r>
          </a:p>
        </p:txBody>
      </p:sp>
    </p:spTree>
    <p:extLst>
      <p:ext uri="{BB962C8B-B14F-4D97-AF65-F5344CB8AC3E}">
        <p14:creationId xmlns:p14="http://schemas.microsoft.com/office/powerpoint/2010/main" val="5627518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E07056-D5B3-48F3-976E-B9F74393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DATA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264FD-1381-4E0D-BE4E-05B88CF5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数据滤波与异常处理策略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D9732-3A5B-41CC-9C95-70BF7561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系统同时保留原始数据和处理数据，保证展示真实且趋势平稳。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C590E-D31A-44F1-887F-75B9D77F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48569-1423-4A75-AC4C-51FA31B4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8B872-AD1A-4BBD-921D-909856F3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45516-E97E-40E7-9319-F0C1316B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E14CB-9CE6-4A3A-A24E-76FA3257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13/23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7A807-81CD-48D5-9FCF-F9A0E2AE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238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3E7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0FFA9-520F-45CC-AE54-4A801649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CA104-E6F5-4890-923E-DA9ED59A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滑动平均滤波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9E2A7-33C5-4C82-A10B-D5526DC1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窗口大小 N=5，仅正常有效点进入窗口；降低随机噪声，让趋势曲线更稳定。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625F5-CC8E-4A60-A9CC-55746F65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8D6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6045B-0EB0-459B-9EA5-56EDA0EA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FC250-4706-439D-926E-64A29CD6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6215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跳变异常隔离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945853-3EBF-4F74-88E7-AEF22617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当前值与上一有效值差值超过阈值时标记 outlier，不写入滤波窗口，避免污染后续结果。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5F7CC-9140-46F5-A01A-6A228122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238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C6D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22F00-ABFD-4B06-8161-81D36299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90D1A-DDA5-42AC-8AE9-E879D56E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6215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seq 丢包检测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7F0C8-888E-40A4-8A7C-3714DC6B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后端保存上一条 seq；若 currentSeq != lastSeq + 1，则触发 PACKET_LOSS。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A9001-069A-4DB3-B10C-39FB6146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028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999A1-FE24-47A1-B8CC-C35AAC70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处理原则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13E1B7-60FF-401C-9EC6-087F5D80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73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raw 值用于真实记录与报警判断；filtered 值用于平滑展示；异常点保留但隔离；offline 状态先上报再暂停，后端可触发设备离线报警。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CA7720-6584-4D2D-9E9F-864F3070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482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C7D2E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2E4"/>
                </a:solidFill>
                <a:latin typeface="Aptos"/>
                <a:ea typeface="Aptos"/>
                <a:cs typeface="Aptos"/>
              </a:rPr>
              <a:t>这样既能展示异常真实发生，又不会让异常值破坏后续趋势曲线。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A8007C-CE2D-4BA4-A210-76D9EDD1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A34CED-778A-4308-8937-3D4E72AA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3721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数据类型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848DAD-34D2-44B9-98B4-A5CEC20E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5C282D-BBFE-466E-A2F2-CE535576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3721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作用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FA4C76-273F-4AF7-90C6-54471B63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149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C460A4-8E52-44EE-B70F-D2C9E68F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53721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是否展示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F519FE-5232-43F5-A5C1-3BE724D8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149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E1E49B-9E38-4D23-8232-5D23EDC0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721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是否进入滤波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1FDF15-F7D6-49D1-A990-FC64A0A9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149A97-9341-4F29-B160-CF4FBA4A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6769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原始值 raw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3C997B-3D61-430B-8289-E594BC96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1A92A2-6640-4551-8967-7F2790E7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6769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保留真实采样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EE014A-BD45-4389-BC0A-8D0FF035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97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6ADE57-B46C-468B-94FC-1A316A6F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56769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5A569B-42F1-4D9C-B8C5-33EE2B9A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197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204131-F41C-471F-A493-F4458F0B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6769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正常点进入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D4E5F1-4C3F-43AE-B979-641867F7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245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66D672-FD10-4469-8E9D-AE14E7C7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9817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异常值 outlier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18582C-7FB5-4A93-9A7A-EFF3206D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245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382F1A-43A2-4DBF-B3B2-5F0D8FDC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9817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保留问题证据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FBDB0E-FA56-4636-ADE9-B9C1E814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245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9D28FC-2141-4216-BA72-AFA8166B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59817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是，高亮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8CAD01-F33A-4E69-B684-DA373BEF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245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BB672B-B052-48FE-8ECB-585EEFF5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9817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否</a:t>
            </a:r>
          </a:p>
        </p:txBody>
      </p:sp>
    </p:spTree>
    <p:extLst>
      <p:ext uri="{BB962C8B-B14F-4D97-AF65-F5344CB8AC3E}">
        <p14:creationId xmlns:p14="http://schemas.microsoft.com/office/powerpoint/2010/main" val="19730625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C97BBC-AA66-478E-8757-F2ABD524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ALARM &amp;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CA49E-9007-4981-8B9A-8A951C70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报警逻辑：阈值、状态和诊断建议统一输出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5C5D4-A5F6-4DD7-A9EE-F28D8D27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本地规则诊断不依赖外部 API，提交材料可稳定复现。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66E6A-59D7-40D4-A09E-BB56567B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9AC23-6966-4941-8884-E74487EC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3485A-8F9A-47B4-AFDE-D7337192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20C3C-0E8D-4161-982E-137C30EA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4402B-7598-44D0-8DF9-722AB8CF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14/23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7D9A7-ADD9-41D2-B796-6869814F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EF388-480A-4FA9-8BB1-452FDF0F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669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报警类型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64C25-630A-4A8E-A66C-16A37E20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1D754-4806-4A62-AD16-13994FA5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866900"/>
            <a:ext cx="182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触发条件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BF7D7-9591-4216-9591-4E206D6B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BAA09-ECC9-4C18-8079-82CD543F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6690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报警含义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0DACE-FB79-4DD6-A66D-B5C48A1B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590BF-26A5-4301-9C38-614CF912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86690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诊断建议示例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A6285-A05F-4CDA-B589-E1CF768F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47D09-962F-4052-822C-8EFAE4D6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8125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TEMP_HIGH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13783-2AC5-4586-B04B-6EA91DDE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241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04D39-E0CD-4F85-AA6B-8E53E3B0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81250"/>
            <a:ext cx="182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温度 &gt; 35℃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685CCC-C557-4343-ADF4-7002A84B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56B87-1BE0-4956-8CBA-7082CC98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8125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环境或设备温度过高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0F47F1-5236-4B65-AA63-2B353352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FD303-485D-4172-88D6-4234B434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38125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检查热源、散热、通风和传感器遮挡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D55430-E800-4D6E-A61C-A881E35C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35592F-E216-4697-953F-92438011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956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HUMIDITY_HIGH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FF0D81-12A5-4C59-8F37-F381B622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9AD53C-C82E-4251-8258-6D4FA702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95600"/>
            <a:ext cx="182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湿度 &gt; 80%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B4CEE7-7DC9-4CCA-86F0-D3A2DB2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0EDD2F-F5D8-4403-83FC-CD3E16DB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9560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环境湿度过高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38CC0F-5626-4DC8-8006-56B52316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4FC13A-F83A-4320-991E-57683094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89560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检查漏水、潮湿积水、除湿和通风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4CD79F-7144-429E-B170-079FA9CF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CD1B8B-40A1-48D0-BD67-C2FBAC85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0995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BOTH_HIGH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40E9CD-F71C-4A70-9E5F-5B903140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E482FB-A7F9-4568-8351-F68B6C3D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09950"/>
            <a:ext cx="182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温湿度同时超标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E9A520-048A-43AD-A8CC-7A88EF84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1E7D58-CFAB-41B2-9A50-C8D28DF5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0995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环境风险叠加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BC5DCA-7F69-4C1F-A067-C8478D3B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F035C6-0F16-47A2-B4B3-672A4AD0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40995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优先排查空调制冷、通风和设备散热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34B6F8-9D18-42CF-8516-FB237999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4491F6-AB77-4AEF-8D78-A0AAE8F3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9243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DATA_OUTLIER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906C63-8670-48A1-8F34-121C1E98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671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6154E6-3BDB-4A97-8BD0-252E7908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924300"/>
            <a:ext cx="182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突变超阈值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EF18A7-88AD-4262-80EB-AB89775A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671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F33BB4-8193-48E6-9FAA-A4551D2B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2430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采样异常或干扰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C281D0-459A-44B0-91B8-4C40341A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38D5C0-DD0C-41E4-964E-D2B992B8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92430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复测并检查接线、电磁干扰和探头状态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6960AE-FAB9-4AA7-A554-5EE8055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AE3B0C-DD7F-414E-A01B-A0E6697F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3865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PACKET_LOSS / OFFLINE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8A0A03-158F-4A32-9BE3-9B9979F3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815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FDC8C2-052F-49EB-A67D-DA23BFE3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438650"/>
            <a:ext cx="182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seq 缺失 / status=offline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63C8A0D-BBEF-4416-B800-CE3E0A5C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F069B1-881B-4984-841C-F14EF78E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3865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网络或采集端异常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A91289-E19D-44A0-8F11-CE399EA1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81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3101A6-41F6-4D16-BE3C-D7F2DA7B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438650"/>
            <a:ext cx="325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检查 MQTT 连接、采集程序和设备网络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B0C0C6-D682-4151-82B9-6FE2337E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962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E7FF"/>
          </a:solidFill>
          <a:ln xmlns:a="http://schemas.openxmlformats.org/drawingml/2006/main" w="9525">
            <a:solidFill>
              <a:srgbClr val="D8CB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D23F65-F721-4AD1-8BEC-8CB8D475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5388A8-292B-4439-9E36-DCCCC7D9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22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诊断模块设计取舍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34EDDCE-2D2B-4806-A6D4-25D0784A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76900"/>
            <a:ext cx="922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课程演示优先稳定性。本项目使用本地规则诊断，可控、低延迟、无需 API Key；后续可接入 DeepSeek、Kimi 等大模型接口。</a:t>
            </a:r>
          </a:p>
        </p:txBody>
      </p:sp>
    </p:spTree>
    <p:extLst>
      <p:ext uri="{BB962C8B-B14F-4D97-AF65-F5344CB8AC3E}">
        <p14:creationId xmlns:p14="http://schemas.microsoft.com/office/powerpoint/2010/main" val="15732006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A71DE9-EE56-4817-9096-D80FFC2F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FRONTEND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91B03-5053-48F4-AC26-CD64185A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前端功能：实时监控、报警历史与历史数据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55648-E257-4B56-8E14-01FE908C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前端将后端处理结果转化为可观察、可解释、可导出的界面。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64B36-DBA2-4944-BF08-976756DB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85C28-9A0F-4EA0-93C5-0397EFC7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AA5F6-447D-4C52-ABD1-31EBC835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BC502-6CAF-4BF9-8D76-9DFA8416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2CD3E-A487-49D7-8657-64DBFA69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15/23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7E1A3-6561-44DF-B219-70F13B4B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3143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F7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3570C-6719-49C5-90A0-8E77C803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实时监测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87CB0-104D-4B04-86B8-023738BE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温度 / 湿度状态卡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原始曲线 + 滤波曲线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设备在线与报警状态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B2251-F0A4-4522-94DC-33398634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5"/>
          </a:solidFill>
          <a:ln xmlns:a="http://schemas.openxmlformats.org/drawingml/2006/main" w="0">
            <a:solidFill>
              <a:srgbClr val="DDF7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0B917-BE84-464C-8C60-C5F80D59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DDF7F5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DDF7F5"/>
                </a:solidFill>
                <a:latin typeface="Consolas"/>
                <a:ea typeface="Consolas"/>
                <a:cs typeface="Consolas"/>
              </a:rPr>
              <a:t>MonitoringPage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0B239-0EAF-408B-81D8-28B9F74C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85950"/>
            <a:ext cx="3143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E2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AAA48-E2FD-4500-992C-99297544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14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报警历史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F6769-5FBE-4BD6-BD56-12DBB444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908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报警类型记录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诊断建议展示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异常时间线追踪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2159A-5D0F-4F47-8A7F-6782DAAD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E2"/>
          </a:solidFill>
          <a:ln xmlns:a="http://schemas.openxmlformats.org/drawingml/2006/main" w="0">
            <a:solidFill>
              <a:srgbClr val="FFE2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485D6-6D5A-411D-A620-E758DA9D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719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FE2E2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FE2E2"/>
                </a:solidFill>
                <a:latin typeface="Consolas"/>
                <a:ea typeface="Consolas"/>
                <a:cs typeface="Consolas"/>
              </a:rPr>
              <a:t>AlarmsPage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E49C1-6297-42FB-8A90-A08B5588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143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C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7C01D-FF4E-47F5-B595-07782594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14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1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历史数据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D5F9E6-C747-4F4F-8FE9-02D65081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908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趋势分析图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记录流表格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搜索与时间范围筛选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77A241-F674-4087-9C6E-46780273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1950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FF"/>
          </a:solidFill>
          <a:ln xmlns:a="http://schemas.openxmlformats.org/drawingml/2006/main" w="0">
            <a:solidFill>
              <a:srgbClr val="E4EC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6B4ED-648E-4E6A-82BB-32BEFCA6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E4EC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E4ECFF"/>
                </a:solidFill>
                <a:latin typeface="Consolas"/>
                <a:ea typeface="Consolas"/>
                <a:cs typeface="Consolas"/>
              </a:rPr>
              <a:t>HistoryPage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BD0246-0C6B-405A-BB43-216C40BF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791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676B97-23D0-4F71-B0F1-6F5F232F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界面表达重点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196A80-2107-4A31-A641-E814C3E4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3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页面明确展示 WebSocket 后端推送连接、最后更新时间、报警状态和诊断建议，避免只展示静态图表。</a:t>
            </a:r>
          </a:p>
        </p:txBody>
      </p:sp>
    </p:spTree>
    <p:extLst>
      <p:ext uri="{BB962C8B-B14F-4D97-AF65-F5344CB8AC3E}">
        <p14:creationId xmlns:p14="http://schemas.microsoft.com/office/powerpoint/2010/main" val="3417414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7D2BE5-FBBC-46FC-8759-3D76C225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DATA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6560C-DF49-4D4F-9D09-3CCCF020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历史数据与 CSV 导出功能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129E2-CE38-469A-A3A8-0788CC81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历史页不仅显示表格，还能将当前数据导出为本地 CSV 文件，便于提交和复查。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E41E9-D2F6-409D-B3B4-B4D725A2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80E83-90DE-4685-813B-BAA3DF1D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C64CA-0667-4B68-9D1B-70A02996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612CD-193A-4F55-A5EE-B8220699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DF0A1-070C-4DF2-A12D-BDB2909C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16/23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58F86-0423-4447-9704-5483BF2C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476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5AF0B-CA0B-4692-A609-40A121EF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HistoryPage 功能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3B526-4C8D-4470-BC13-8DC18BFB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3714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• 统计总记录数、平均温湿度、峰值温度和丢包率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• 趋势图支持 ALL / LAST_20 / LAST_50 切换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• 表格展示 seq、时间、原始值、滤波值和状态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• 搜索框可按状态、报警类型、报警信息过滤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• EXPORT_CSV 按钮导出当前历史数据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C05BB-6AC7-4522-9AD8-02E93CC7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476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E2E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3F86C-5E51-4DFF-87CE-ABAED783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CSV 导出实现逻辑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3D019-81FF-4C2D-BBFF-60729A06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headers = ['seq', 'timestamp', ...]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rows = history.map(...)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csv = [headers, ...rows].join('\n')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blob = new Blob(['\uFEFF' + csv])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a.download = sensor_data_日期.csv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608AC-6DF1-46C6-BFCA-732B9B6B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86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使用 UTF-8 BOM 解决 Excel 打开中文乱码问题。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61171-A479-44D3-A5EA-5A1018E3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29250"/>
            <a:ext cx="933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C6D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02EED-ACED-465D-BF32-28369425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292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33991-11F0-4664-BBB9-AEB891CC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891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实现位置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C92A3E-E3B4-487A-9467-0C09261B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891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243044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43044"/>
                </a:solidFill>
                <a:latin typeface="Consolas"/>
                <a:ea typeface="Consolas"/>
                <a:cs typeface="Consolas"/>
              </a:rPr>
              <a:t>HistoryPage.vue / exportCSV() 方法</a:t>
            </a:r>
          </a:p>
        </p:txBody>
      </p:sp>
    </p:spTree>
    <p:extLst>
      <p:ext uri="{BB962C8B-B14F-4D97-AF65-F5344CB8AC3E}">
        <p14:creationId xmlns:p14="http://schemas.microsoft.com/office/powerpoint/2010/main" val="9273582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26C98F-138A-4B56-9F3B-1B5E14FF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RUN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CB5CA-8921-4762-8F35-BACBFA71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运行方法：推荐 Docker，一条命令启动完整系统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74528-D0B5-4329-B124-3CCBE700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提交材料中的运行说明与 docker-compose.yml 保持一致。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750C6-6A39-4701-A81E-42B4B653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14AEA-4531-4971-AB5C-3584515F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36335-D0E1-4DFE-8B48-394B0F4B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65080-9BD5-4801-B58C-61BA210B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09C3A-AA0D-41CC-A795-7467A22F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17/23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7A3FD-82C8-411D-A364-5A98F3E9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0482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8151C-96DE-4EED-A1D4-6234F60B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Docker 一键部署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99406-5720-494F-B1C0-0AE44D11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9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cd finalwork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docker compose up -d --build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8C074-BFE0-4D80-8CF7-0532E9F0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C7D2E4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C7D2E4"/>
                </a:solidFill>
                <a:latin typeface="Consolas"/>
                <a:ea typeface="Consolas"/>
                <a:cs typeface="Consolas"/>
              </a:rPr>
              <a:t>停止系统：docker compose 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5F849-17BF-444B-B483-E53B73F0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45720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70857-CE4E-4CFA-B464-34B14A64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访问地址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E3A21-EB17-4E17-BFD8-98BF140B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361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1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044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43044"/>
                </a:solidFill>
                <a:latin typeface="Consolas"/>
                <a:ea typeface="Consolas"/>
                <a:cs typeface="Consolas"/>
              </a:rPr>
              <a:t>前端：http://localhost:5173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044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43044"/>
                </a:solidFill>
                <a:latin typeface="Consolas"/>
                <a:ea typeface="Consolas"/>
                <a:cs typeface="Consolas"/>
              </a:rPr>
              <a:t>后端：http://localhost:8080/api/health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044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43044"/>
                </a:solidFill>
                <a:latin typeface="Consolas"/>
                <a:ea typeface="Consolas"/>
                <a:cs typeface="Consolas"/>
              </a:rPr>
              <a:t>EMQX：http://localhost:18083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243044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43044"/>
                </a:solidFill>
                <a:latin typeface="Consolas"/>
                <a:ea typeface="Consolas"/>
                <a:cs typeface="Consolas"/>
              </a:rPr>
              <a:t>账号：admin / public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FD517-4E9B-4418-AB2B-66D253FA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634AD-5F6B-4ACA-859B-0506CCD8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24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本地分端启动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F96E0-2DA4-4450-B1A8-CEEC09F2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052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F0D504-3A5A-45D2-BC93-981702D1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624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命令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F4C7A-0BB0-4213-9BE0-D0E3B607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052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BBDDF-0FA8-4106-B3FB-921BB7F2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62400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说明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2222E-E423-493C-A9C6-3A61263F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0E352A-97A8-455F-84ED-2883050A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3865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后端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526CB-08AA-4E37-AAD5-76E3D7C2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815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F805E-01A2-4CB5-AD76-FD1B99A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386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cd iot-backend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mvn spring-boot:run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4EAA81-E873-4307-AE69-2F1319D8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815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6FCE79-DEB3-4929-8E7C-A5D8893E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38650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启动 Spring Boot，监听 8080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8DF2ED-BE77-4A55-807C-0A15FD5D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1EC3D7-3037-4FCA-B4A4-403F5AA1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149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前端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82F52C-E3AB-4704-99B4-70686964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577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999F8B-7E24-4CEB-AEC2-5ECD1E1C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149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cd iot-frontend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npm install &amp;&amp; npm run dev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FD280A-C3BD-4B4D-820F-137C7867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577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3F23A1-69C6-4B10-8621-68DEEA6C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14900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启动 Vite，浏览器访问 5173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DEE18B-B8E2-4149-B14F-A8B666F0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6CB134-03CC-4271-A67B-7290CBC3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9115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模拟器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0899D0-3791-4699-8506-5CE0971C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340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2C0859-0FB3-43CD-818D-3B33DCA5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3911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cd sensor-simulator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python mqtt_publisher.py --mode demo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A7FD75-AA91-4A6C-9A9F-6E5ED8EC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340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7493D2-0C52-41CB-B682-45B70A74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91150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按固定序列发布正常和异常数据</a:t>
            </a:r>
          </a:p>
        </p:txBody>
      </p:sp>
    </p:spTree>
    <p:extLst>
      <p:ext uri="{BB962C8B-B14F-4D97-AF65-F5344CB8AC3E}">
        <p14:creationId xmlns:p14="http://schemas.microsoft.com/office/powerpoint/2010/main" val="20752699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225AB4-1C78-4BC7-8E0D-F11BE3BE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TESTING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6C5EF-415B-4460-AC64-68373C52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测试说明：每个功能都有触发方式和预期结果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578F4-7084-47A5-BD55-60A6B679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提交材料包含测试说明，PPT 中摘要展示核心验证路径。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18573-F95C-490C-B253-271AFFEB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8CA37-47CD-4C67-A8A7-58494051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2781B-12D6-4E04-95FD-41272407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E15DF-F38E-4F47-B6DF-D1C12FDC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161A3-BF40-4610-9515-21A6DA26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18/23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AA414-28C3-421C-8547-E18D1565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B38C6-E702-4315-9C3A-A20FEF41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669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测试项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8798E-2F9D-45AA-87FA-3DE32342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09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46AC8-4CB2-4A7D-BC13-5D46C35A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86690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触发方式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F444A-BB16-4AC9-844C-C3F386EA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AC102-8A20-458D-8CAD-40722748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8669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预期结果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79B20-8BF2-4C11-B64A-755B3CDE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903C8-70DC-4221-915E-2E2ED22C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8669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验证点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4F9CC-B3D7-4EC6-8017-D406913A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378C3-9330-46C2-A269-7D69AA53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193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正常数据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45799-5B54-4F10-804A-BD43EBC6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83963-9191-4D3C-A885-8C627147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4193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demo 模式持续上报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790B8-81AB-4E84-937F-71E8C253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622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2637D8-E6FB-40DD-AE12-D169A5AE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193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数值和曲线持续更新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FFC34-5A91-44B2-A9C5-BBB2BE28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622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404D2C-DB05-4943-BF3A-8B4835BB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1935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WebSocket 连接、曲线滚动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6F67F0-84F9-4E2C-9F81-082046A3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FEA38C-FE42-4892-BE42-397299D1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718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高温 / 高湿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B2F073-E8D7-467F-B744-C8DFBF33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14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A3234D-DCF5-4F3C-BB93-A4FF709A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97180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temp_high / humidity_high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19FD08-1B46-416E-988E-B7362605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146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4E0D25-F2DA-4AB7-9D96-F5B91FBE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9718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报警记录新增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BF2CC4-D1B4-47A1-998B-3CF7BE44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146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7BFE2D-57A0-44D5-BC01-2AD27467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9718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卡片变色、诊断建议出现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305403-A0AC-4499-BA21-09B0B4E3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8D39F2-3516-45D7-A64C-4A8ACD39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242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跳变异常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C7B6CE-07ED-4B42-9A60-1CB93AB3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7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25CCE5-CE4F-4741-B742-4DFBBED1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5242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jump 状态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F7355E-E113-48BA-8019-E2D914FF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671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87D53F-CC88-43AD-A270-9579AE09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5242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标记 outlier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A5ADD8-3C59-484A-B9EE-7F12F627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2B6324-42D2-4E0B-921D-C68B1A54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2425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异常点不进入滤波窗口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9DC4A7-D584-46B1-9305-3A11F5ED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ACEB35-85EC-4707-B33A-084FF2C0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767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丢包检测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4B88DB-66F8-48ED-9717-DC337739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195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A148BA-ADB8-4441-A039-FEAD1784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7670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lost 状态跳过发送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61837B-5CFB-48AC-8770-495A08F0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195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5C5028-7E54-4AE7-BA6B-32DD7627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0767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触发 PACKET_LOSS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5264A9-7CF2-414B-A32F-5FEBBD04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195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10459F-2A6C-4506-AE74-0D5A5916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0767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seq 不连续识别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F30B1D-C88F-4655-A61F-76649A8C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89160D-FE8D-43DC-85E4-CFBFB42A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291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离线与重连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F628DC-8ACF-4354-9F44-B42D6D56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72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887269-6A7E-4142-A4FD-0B946553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29150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offline 或重启 Broker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CF2053-CB4C-4688-B5CE-50E84152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720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59B8FC-38D6-491F-8CB8-F00FB8F5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62915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设备离线报警并恢复接收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35545B-07AA-406C-A8B1-9751E6F7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720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3B00B0-F65B-4778-9647-F2734B34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2915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发布端和后端日志恢复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9E90E2-CDB2-4B6B-8E01-E59F1B8F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0"/>
            <a:ext cx="9582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9EDC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6FDA160-B726-4675-8843-B66EBA11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F7CD17-0D55-480C-A9D1-19A3C338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62600"/>
            <a:ext cx="916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测试结论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288681-D0A7-4ECB-BDF3-A15BA5FD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16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13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项目覆盖题目一的 MQTT 通信、数据格式、断线重连、异常数据处理和前端展示要求；Docker 方式降低复现环境差异。</a:t>
            </a:r>
          </a:p>
        </p:txBody>
      </p:sp>
    </p:spTree>
    <p:extLst>
      <p:ext uri="{BB962C8B-B14F-4D97-AF65-F5344CB8AC3E}">
        <p14:creationId xmlns:p14="http://schemas.microsoft.com/office/powerpoint/2010/main" val="8017182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FE7EDF-A9FA-427E-9FA5-4230FEC8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PROBLEMS &amp; SOLUTIONS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ED553-6855-4647-A13D-2B8969C9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遇到的问题与解决方法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69FF9-B9E1-46DA-BDB7-77110DEC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记录项目实现中出现的关键工程问题、原因分析和处理结果。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D2B4F-BF2D-4D34-9856-E3A5BBD4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1AA04-3025-4D8C-83A7-256E3672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81343-1A6E-48AE-AE34-A57B4081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9FF68-1AFA-44EC-BA4C-6529C174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58572-EA0D-46CA-B2FE-D92920BC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19/23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7188B-A1F7-404D-9156-726A4A0B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333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685E2-7727-45F8-8A16-6FB11FFE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47850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6815B-0119-4669-A395-6A4ED948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790700"/>
            <a:ext cx="3143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51E15-42FF-46B7-B2ED-14C47109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47850"/>
            <a:ext cx="2971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原因分析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9D231-D0A6-4C0A-B53F-76A95748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90700"/>
            <a:ext cx="3238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B92A0-F966-41F5-996B-81E24B1B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3067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解决方法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E2F32-044C-4EE9-BAEF-03C3148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790700"/>
            <a:ext cx="2190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4951F-E184-4E83-A080-31971AC7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47850"/>
            <a:ext cx="2019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DC95A-96D6-431F-A315-8076A60E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2333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FC8FB-E88A-480C-ABE2-D427C1B6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47925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前端状态曾误导为 MQTT 连接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DFDDE-41F0-472D-8500-A3AA2817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90775"/>
            <a:ext cx="3143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8C6AE-E815-4E51-B268-93D7278F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47925"/>
            <a:ext cx="2971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浏览器实际连接的是后端 WebSocket，不直接连 MQTT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A891FA-6588-4EE3-86BD-C692F805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90775"/>
            <a:ext cx="3238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22BDA1-7293-4103-AA69-55B0E77D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47925"/>
            <a:ext cx="3067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将文案改为 WEBSOCKET · BACKEND PUSH，并显示最后更新时间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FB86E-50A0-4D1B-813C-72270440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90775"/>
            <a:ext cx="2190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D1311B-8C30-4C52-9649-F7290ACB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47925"/>
            <a:ext cx="2019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表达更严谨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C51D78-88F9-41BF-AC25-BF472DEB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2333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45D8E0-575E-4986-9198-C18826D8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离线状态不易被后端识别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14C037-B0BA-45E8-B7CE-5D5BBF65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990850"/>
            <a:ext cx="3143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3C6625-30CE-44D3-A72F-C88174CB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2971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模拟器断开后如果不先上报状态，后端只能看到沉默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12EC19-EB41-4F6C-B66D-CAEA03FA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990850"/>
            <a:ext cx="3238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E4799D-646B-4881-B465-41A5A2F6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3067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离线前先发布 offline 包，再暂停上报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729C11-243C-45B7-B363-68BA92EE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90850"/>
            <a:ext cx="2190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749017-11C8-4016-BD16-4467A66B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48000"/>
            <a:ext cx="2019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可产生离线报警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663EEB-89A7-4687-B772-F6CBD4DB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2333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F3C17D-9E0D-41F1-B323-A690320D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48075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Broker 启动顺序导致订阅失败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52711B-83C7-460D-9C33-DC9DC33C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590925"/>
            <a:ext cx="3143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45F3F1-EB55-4E25-A1D1-480069FF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48075"/>
            <a:ext cx="2971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Docker 中后端可能早于 EMQX 完全就绪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1771F1-90BE-44D4-9B90-52F1E304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90925"/>
            <a:ext cx="3238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7A5079-AC59-4185-B504-CFF361AF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48075"/>
            <a:ext cx="3067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后端首次连接失败时重试，连接恢复后重新订阅 Topic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006A37-33F0-45D2-9E00-14F2BF1B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590925"/>
            <a:ext cx="2190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E4362A-E444-4396-8A13-DA98FC13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48075"/>
            <a:ext cx="2019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启动更稳定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AA9F16-DD8C-4EA5-A074-7E07C105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333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081262-392F-46BA-8AC8-EDCC8757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48150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异常值污染平滑曲线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6A2E91-85EC-4CAB-9A20-EBD37079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191000"/>
            <a:ext cx="3143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6B3FCE-E539-4ED0-996B-A9079ED7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48150"/>
            <a:ext cx="2971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跳变点直接进入滑动窗口会拉偏后续数据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2612A0-285F-4CC3-9583-22B86985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191000"/>
            <a:ext cx="3238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135462-6C74-4C65-BF40-E339C1EF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3067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异常点保留展示但不进入滤波窗口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681B34-7574-4EFD-8571-31B34F2A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191000"/>
            <a:ext cx="2190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3B5D2A-BB15-4AFC-A631-C2EA2D22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48150"/>
            <a:ext cx="2019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趋势更可信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F83DAB-DA36-4E51-A711-490BB39A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2333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E50711-D3DD-442C-B095-13A7461E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48225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CSV 中文可能乱码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2DCC3E-6C36-469F-ADB1-00A2A0DC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791075"/>
            <a:ext cx="3143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52ABFC-A930-47D4-961F-77690DA7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48225"/>
            <a:ext cx="2971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Excel 对 UTF-8 识别不稳定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C4A835-E946-4B3A-A676-10B2CA61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791075"/>
            <a:ext cx="3238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DC2201-A6E5-4242-8BFC-D3F23BFB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48225"/>
            <a:ext cx="3067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导出时加入 UTF-8 BOM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404BD3-40AC-458F-B5C2-1E816D40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791075"/>
            <a:ext cx="2190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663E25-EF9D-492F-93B9-42B7267E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48225"/>
            <a:ext cx="2019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中文字段可正常打开</a:t>
            </a:r>
          </a:p>
        </p:txBody>
      </p:sp>
    </p:spTree>
    <p:extLst>
      <p:ext uri="{BB962C8B-B14F-4D97-AF65-F5344CB8AC3E}">
        <p14:creationId xmlns:p14="http://schemas.microsoft.com/office/powerpoint/2010/main" val="7488281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FF83D9-1B5B-42E7-A897-D98F6B8F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SOURCE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6839E-C6BC-484D-A546-65022ABE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项目源代码结构与提交压缩包内容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B368D-1257-4066-AAA2-0DB7DEEE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本项目为源代码型课程项目，无单独桌面可执行程序；Dockerfile 和 Compose 可构建运行镜像。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43BE1-15A1-40AE-9AC4-27B2CE90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A36B0-95B2-4D5E-A7E0-E2C5EFA1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D15BD-1D18-4123-ADD9-EFEDCF7B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E2F0C-7BA1-4EB7-B55D-C89F1553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4D3A7-77F9-4F03-AAC6-7354792E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20/23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28AB8-8E10-4BC3-ADFF-580026C2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E2E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9B2C5-5C5A-4F29-BA40-C7FD58B4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finalwork/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├─ docker-compose.yml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├─ iot-backend/          Spring Boot 后端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├─ iot-frontend/         Vue + ECharts 前端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├─ sensor-simulator/     Python 模拟传感器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├─ docs/                 运行说明、测试说明、设计说明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E6EDF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8"/>
                </a:solidFill>
                <a:latin typeface="Consolas"/>
                <a:ea typeface="Consolas"/>
                <a:cs typeface="Consolas"/>
              </a:rPr>
              <a:t>└─ PPT/                  正式提交 PPT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1AF4A-E28F-40CC-9873-F4D0E4EF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3E7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F5AC1-0327-4906-BE67-4C1CE2E9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E33C9-445B-4F9D-82B8-616ED1DA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压缩包应包含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518FF-DD5E-473B-AC10-61BF5A25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源代码、Dockerfile、docker-compose.yml、requirements.txt、package.json、pom.xml、docs 运行说明和测试说明。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1B584-20EB-4FE3-A368-3E491605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4572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8D6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FB4DE4-CFA4-4816-8C10-50E31C57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A0CC4-20CB-48D8-AC41-D38DE2A0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代码注释说明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4C833-8F8E-4B96-ADD3-9585AFDC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9570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核心处理逻辑、异常检测、重连、CSV 导出等位置通过函数命名和必要注释表达意图，便于阅读、复现和维护。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58261-2568-4D80-83C6-26DB09BE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4572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E2E2"/>
          </a:solidFill>
          <a:ln xmlns:a="http://schemas.openxmlformats.org/drawingml/2006/main" w="9525">
            <a:solidFill>
              <a:srgbClr val="FFC2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2D1F2-18EB-4126-B86E-291FC483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57759F-7C61-49D4-A252-790C6FD7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9650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命名要求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D6A17-B9C5-476D-BCE0-A651F96C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244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PPT 与压缩包必须同名：物联网考核-学号1-姓名1-学号2-姓名2.pptx / .zip</a:t>
            </a:r>
          </a:p>
        </p:txBody>
      </p:sp>
    </p:spTree>
    <p:extLst>
      <p:ext uri="{BB962C8B-B14F-4D97-AF65-F5344CB8AC3E}">
        <p14:creationId xmlns:p14="http://schemas.microsoft.com/office/powerpoint/2010/main" val="4571325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9DD9DC-851D-494A-9436-BCBCC955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TEAM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BBC53-C4D1-4A77-93CE-B754E1A9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小组成员分工与贡献说明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E06C6-FD31-4089-8ED9-0535EDEF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展示两位成员在数据链路、后端处理、前端展示和材料整理中的分工。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4523A-0FC6-4C93-8E8E-D3C8A915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E3618-9285-4DA0-A11D-7A62D3E2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C0C2A-B4AD-42C7-8341-3ABF36A6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8EE95-7C51-4864-847A-CCB17400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C7AF5-FAFA-4FAA-A29D-F14766CE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21/23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64A14-463E-40C0-9E9A-8C6DE388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CB3D4-C526-4FCE-8BD0-51F90004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成员 A：学号1 姓名1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9C47-879E-4169-8446-AD10C75F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4000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主要负责数据模拟与后端业务引擎：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• Python 温湿度模拟器与异常注入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• MQTT Topic 与 JSON 数据格式设计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• MQTT 发布、订阅与断线重连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• Spring Boot 后端、滤波、报警、诊断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• 后端运行说明和核心技术说明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A5A0F-5200-4D6F-BCC9-3129BC66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E12F9-BFFF-488E-8F36-49C207C8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成员 B：学号2 姓名2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0D2ED-14F3-4E97-BE7B-8F166F65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4000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主要负责前端可视化与汇报材料：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• Vue + Vite 前端项目搭建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• ECharts 实时曲线与历史趋势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• 报警记录、历史数据和 CSV 导出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• 页面交互、演示流程和截图整理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• PPT、压缩包结构和最终材料整理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AFB6E-7C2A-4FA4-B6CF-6A5F0DAC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933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3E7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BEADD-B64B-4522-9D39-63424EAE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D8A0B-BA37-45CD-B0A6-E0EB7BB6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00700"/>
            <a:ext cx="891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共同完成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51952-328C-4933-9E33-5B72A448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48350"/>
            <a:ext cx="891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接口联调、异常测试、断线重连测试、代码注释检查、运行说明整理和最终项目打包。</a:t>
            </a:r>
          </a:p>
        </p:txBody>
      </p:sp>
    </p:spTree>
    <p:extLst>
      <p:ext uri="{BB962C8B-B14F-4D97-AF65-F5344CB8AC3E}">
        <p14:creationId xmlns:p14="http://schemas.microsoft.com/office/powerpoint/2010/main" val="14325569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995132-19CB-4EA8-AFE9-D8F478D8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0A6A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0A6A6"/>
                </a:solidFill>
                <a:latin typeface="Consolas"/>
                <a:ea typeface="Consolas"/>
                <a:cs typeface="Consolas"/>
              </a:rPr>
              <a:t>VIDEO &amp;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2A9F1-0B2E-4DCB-BF04-A22A597E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系统讲解视频与最终提交清单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6A2E5-03DD-4A42-8513-45AA7BF5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本页用于放置系统讲解视频、视频二维码或课程平台链接。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DF1FE-8E15-497D-AFB8-75FB2A12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1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0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F6BE3-0AA0-4722-A165-AC11DF0D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D5D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E5D8C-2F74-460F-8BE4-B7AAB2CF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MQTT 智能温湿度环境监测系统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5CC52-9F90-443F-8DD3-D2F005B3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课程设计材料整理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6317E-D4A7-4406-8B35-C52A93CA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0">
                <a:solidFill>
                  <a:srgbClr val="667085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22/23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DFC39-67CF-4FB8-9382-55A4D325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81025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4288">
            <a:solidFill>
              <a:srgbClr val="2936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6DD09-57AE-49DD-A1E2-2A499024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527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8D684-470A-43A2-A8B2-EA718C63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76600"/>
            <a:ext cx="47625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95234-B382-48BB-8399-BF6F3E13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72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系统讲解视频插入区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8AA3F-C0F2-440D-895B-BDF285F6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81550"/>
            <a:ext cx="474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B9C6D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6DA"/>
                </a:solidFill>
                <a:latin typeface="Aptos"/>
                <a:ea typeface="Aptos"/>
                <a:cs typeface="Aptos"/>
              </a:rPr>
              <a:t>3-5 分钟：架构 → 运行 → 异常演示 → 总结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BB549-ABC6-420B-8AEC-8DB60B0C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9750"/>
            <a:ext cx="3429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C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255C9-27AA-4375-AEDE-1F87A22E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289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5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视频二维码 / 链接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E8A75-AAB6-4E2B-A465-44F17CC1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视频二维码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网盘 / 课程平台链接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C1D29-ACD8-4431-94FF-FFB80729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719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3F5E0-2754-4BE9-B746-6FE07210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2291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提交项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7B5ADA-820E-4FB9-A47A-249A1602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8D8F8-8366-4AF2-975E-23B0E248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291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要求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E176C-A976-4BDD-BDBE-1C00F0F4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720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559475-ADC2-4FA8-92AD-5761B32C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291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PPT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A97ABD-ECD0-4472-8F44-A1A2DC24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720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D67A2-993C-4702-A56F-0BEFEA60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291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物联网考核-学号1-姓名1-学号2-姓名2.pptx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883CF-530B-4462-A7DF-3E6F5830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720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A1F3D-5734-4C1E-AB93-54D8F9FF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0292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压缩包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DA0E09-DC84-4E33-ACA0-42D53E58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720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431E9E-14C3-4369-B4C5-A1C0D03F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0292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同名 .zip，包含全部源代码和运行说明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7A0E61-D38A-4489-8AEA-C20E2ED4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721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8A9C6E-1DBF-4D9C-ADC7-D81A4FF4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4292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邮件主题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DD6673-148B-4705-A3BD-9102FE3C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72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1F24D0-BB45-4604-A9AE-C1595BD2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4292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物联网考核-学号1-姓名1-学号2-姓名2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A3DD80-430C-4922-A292-E3391EAF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7721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47215F-F63F-4990-BF54-D7E9BEE4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8293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收件邮箱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0B60AB-9057-48E7-9B97-12825349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721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6668">
            <a:solidFill>
              <a:srgbClr val="D5DC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AF112D-B079-4562-B6F4-606BABCE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829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24304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43044"/>
                </a:solidFill>
                <a:latin typeface="Aptos"/>
                <a:ea typeface="Aptos"/>
                <a:cs typeface="Aptos"/>
              </a:rPr>
              <a:t>57677697@qq.com，截止 2026-07-06 23:59 前</a:t>
            </a:r>
          </a:p>
        </p:txBody>
      </p:sp>
    </p:spTree>
    <p:extLst>
      <p:ext uri="{BB962C8B-B14F-4D97-AF65-F5344CB8AC3E}">
        <p14:creationId xmlns:p14="http://schemas.microsoft.com/office/powerpoint/2010/main" val="1620688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510C72-3C9F-4612-89FE-73263234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2ED3A-E6EF-489C-A868-9CE91EFF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4C"/>
          </a:solidFill>
          <a:ln xmlns:a="http://schemas.openxmlformats.org/drawingml/2006/main" w="0">
            <a:solidFill>
              <a:srgbClr val="123D4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3C7B5-C075-4CCD-84AF-816605B4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260"/>
          </a:solidFill>
          <a:ln xmlns:a="http://schemas.openxmlformats.org/drawingml/2006/main" w="0">
            <a:solidFill>
              <a:srgbClr val="1532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1CE7C-BA83-4C28-B3AC-A7BD9127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3429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MQTT ENVIRONMENT MONITORING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43970-28D8-4359-9D38-A08DE97A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0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感谢审阅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BC3A2-DE63-4361-9108-925473DC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D7E1F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1F3"/>
                </a:solidFill>
                <a:latin typeface="Aptos"/>
                <a:ea typeface="Aptos"/>
                <a:cs typeface="Aptos"/>
              </a:rPr>
              <a:t>基于 MQTT 的智能温湿度环境监测与异常报警系统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17DF7-B37E-4BBD-8E72-30833DDA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429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F37"/>
          </a:solidFill>
          <a:ln xmlns:a="http://schemas.openxmlformats.org/drawingml/2006/main" w="9525">
            <a:solidFill>
              <a:srgbClr val="2843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CA956-80C0-4377-9430-1004CA17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43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小组成员：学号1 姓名1  /  学号2 姓名2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955C5-2D22-4612-9460-FB558A90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B9C6D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9C6DA"/>
                </a:solidFill>
                <a:latin typeface="Aptos"/>
                <a:ea typeface="Aptos"/>
                <a:cs typeface="Aptos"/>
              </a:rPr>
              <a:t>课程：物联网技术开发    题目：基于 MQTT 协议的模拟环境监测物联网系统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C2962-B38F-4639-B0F5-E9DDE4F0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6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8EAD8-5871-4E38-B883-8120CF1C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526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726EE-D650-45DE-8253-BB72B17F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模拟采集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DD9FB-D388-40A2-8FC1-90A96250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E403C-29D2-46DB-B387-6B15C05C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480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MQTT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511D9-D840-47CE-9BEC-B2BC22C8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337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发布订阅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BEA77-68C5-4F25-82AB-F2C49337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86D07-E2FD-4DF3-9212-A9D3EC86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Alarm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67964-B154-49BF-A49D-45006119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053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异常报警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9AF8B-8F57-4028-8A45-9B15C54F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055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B9C6DA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B9C6DA"/>
                </a:solidFill>
                <a:latin typeface="Consolas"/>
                <a:ea typeface="Consolas"/>
                <a:cs typeface="Consolas"/>
              </a:rPr>
              <a:t>23/23</a:t>
            </a:r>
          </a:p>
        </p:txBody>
      </p:sp>
    </p:spTree>
    <p:extLst>
      <p:ext uri="{BB962C8B-B14F-4D97-AF65-F5344CB8AC3E}">
        <p14:creationId xmlns:p14="http://schemas.microsoft.com/office/powerpoint/2010/main" val="662832886"/>
      </p:ext>
    </p:extLst>
  </p:cSld>
</p:sld>
</file>

<file path=ppt/theme/theme1.xml><?xml version="1.0" encoding="utf-8"?>
<a:theme xmlns:a="http://schemas.openxmlformats.org/drawingml/2006/main" name="ChatGPT">
  <a:themeElements>
    <a:clrScheme name="IoT MQTT Final Submission">
      <a:dk1>
        <a:srgbClr val="000000"/>
      </a:dk1>
      <a:lt1>
        <a:srgbClr val="FFFFFF"/>
      </a:lt1>
      <a:dk2>
        <a:srgbClr val="0B1220"/>
      </a:dk2>
      <a:lt2>
        <a:srgbClr val="D5DCE8"/>
      </a:lt2>
      <a:accent1>
        <a:srgbClr val="00A6A6"/>
      </a:accent1>
      <a:accent2>
        <a:srgbClr val="2563EB"/>
      </a:accent2>
      <a:accent3>
        <a:srgbClr val="F59E0B"/>
      </a:accent3>
      <a:accent4>
        <a:srgbClr val="EF4444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oT MQTT Final Submis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2026-06-17T10:41:18.0000000Z</dcterms:created>
  <dcterms:modified xsi:type="dcterms:W3CDTF">2026-06-17T10:41:18.0000000Z</dcterms:modified>
</coreProperties>
</file>