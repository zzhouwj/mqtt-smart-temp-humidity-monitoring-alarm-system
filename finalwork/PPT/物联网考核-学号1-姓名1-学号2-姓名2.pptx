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" y="111556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563EB"/>
                </a:solidFill>
              </a:rPr>
              <a:t>基于 MQTT 与 Spring Boot 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04672" y="16642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2263A"/>
                </a:solidFill>
              </a:rPr>
              <a:t>智能温湿度环境监测与异常报警系统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22960" y="239572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物联网技术开发课程设计 · 题目一工程化实现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4005072"/>
            <a:ext cx="1508760" cy="786384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Python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模拟采集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88920" y="4005072"/>
            <a:ext cx="1508760" cy="786384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63A"/>
                </a:solidFill>
              </a:rPr>
              <a:t>MQTT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2263A"/>
                </a:solidFill>
              </a:rPr>
              <a:t>发布订阅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09160" y="4005072"/>
            <a:ext cx="1600200" cy="786384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Spring Boot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后端处理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20840" y="4005072"/>
            <a:ext cx="1691640" cy="786384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Vue + ECharts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实时展示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15400" y="4005072"/>
            <a:ext cx="1508760" cy="786384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Docker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一键部署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41448" y="4398264"/>
            <a:ext cx="28346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61688" y="4398264"/>
            <a:ext cx="28346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82512" y="4398264"/>
            <a:ext cx="274320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476488" y="4398264"/>
            <a:ext cx="37490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59893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小组成员：学号1 姓名1 / 学号2 姓名2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项目任务与四个考核重点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围绕老师给出的考核点逐项落地到代码、文档和演示中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" y="1572768"/>
            <a:ext cx="2331720" cy="1005840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MQTT 与 TCP 对比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20440" y="1572768"/>
            <a:ext cx="2331720" cy="1005840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2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JSON 数据格式设计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63640" y="1572768"/>
            <a:ext cx="2331720" cy="1005840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断线自动重连机制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006840" y="1572768"/>
            <a:ext cx="2331720" cy="1005840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4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异常数据与滤波策略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337560"/>
            <a:ext cx="1005840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2263A"/>
                </a:solidFill>
              </a:rPr>
              <a:t>功能实现：模拟传感器、MQTT 发布订阅、实时曲线、报警提示</a:t>
            </a:r>
            <a:endParaRPr lang="en-US" sz="1700" dirty="0"/>
          </a:p>
          <a:p>
            <a:r>
              <a:rPr lang="en-US" sz="1700" dirty="0">
                <a:solidFill>
                  <a:srgbClr val="12263A"/>
                </a:solidFill>
              </a:rPr>
              <a:t>方案设计：物联网分层架构、JSON 协议、QoS、异常处理流程</a:t>
            </a:r>
            <a:endParaRPr lang="en-US" sz="1700" dirty="0"/>
          </a:p>
          <a:p>
            <a:r>
              <a:rPr lang="en-US" sz="1700" dirty="0">
                <a:solidFill>
                  <a:srgbClr val="12263A"/>
                </a:solidFill>
              </a:rPr>
              <a:t>工程化：Spring Boot + Vue + Docker，支持一键部署与稳定演示</a:t>
            </a:r>
            <a:endParaRPr lang="en-US" sz="1700" dirty="0"/>
          </a:p>
          <a:p>
            <a:r>
              <a:rPr lang="en-US" sz="1700" dirty="0">
                <a:solidFill>
                  <a:srgbClr val="12263A"/>
                </a:solidFill>
              </a:rPr>
              <a:t>表达材料：白色背景 PPT、运行说明、测试说明、答辩防守问题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系统总体架构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完整链路：感知层 → 网络层 → 平台层 → 应用层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1645920" cy="1078992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感知层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Python 模拟温湿度节点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993392"/>
            <a:ext cx="1783080" cy="1078992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</a:rPr>
              <a:t>网络层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</a:rPr>
              <a:t>EMQX / MQTT Broker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40680" y="1993392"/>
            <a:ext cx="1737360" cy="1078992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平台层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Spring Boot 后端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18120" y="1993392"/>
            <a:ext cx="1737360" cy="1078992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应用层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Vue + ECharts 大屏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149840" y="1993392"/>
            <a:ext cx="1417320" cy="1078992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部署层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Docker Compose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95728" y="2532888"/>
            <a:ext cx="51206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28032" y="2532888"/>
            <a:ext cx="548640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42048" y="2532888"/>
            <a:ext cx="51206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619488" y="2532888"/>
            <a:ext cx="46634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60120" y="4343400"/>
            <a:ext cx="10241280" cy="566928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263A"/>
                </a:solidFill>
              </a:rPr>
              <a:t>数据流：模拟采集 → MQTT 发布/订阅 → 后端滤波与报警 → WebSocket 推送 → 前端实时展示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7552" y="5257800"/>
            <a:ext cx="9966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架构特点：设备端与后端通过 Topic 解耦，后端与前端通过 WebSocket 保持实时性。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为什么选择 MQTT，而不是直接 TCP？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MQTT 是基于 TCP 的物联网应用层协议，更适合设备数据上报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1408176"/>
            <a:ext cx="1975104" cy="603504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对比项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51760" y="1408176"/>
            <a:ext cx="4626864" cy="603504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MQTT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0" y="1408176"/>
            <a:ext cx="4626864" cy="603504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TCP Socket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039112"/>
            <a:ext cx="197510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通信模式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51760" y="2039112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发布 / 订阅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0" y="2039112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点对点连接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670048"/>
            <a:ext cx="197510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解耦程度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51760" y="2670048"/>
            <a:ext cx="462686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设备和后端通过 Topic 解耦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315200" y="2670048"/>
            <a:ext cx="462686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通信双方直接绑定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300984"/>
            <a:ext cx="197510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消息分发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51760" y="3300984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Broker 自动转发给订阅者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3300984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需要自行实现转发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197510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可靠性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51760" y="3931920"/>
            <a:ext cx="462686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支持 QoS 0/1/2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315200" y="3931920"/>
            <a:ext cx="4626864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应用层自行设计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4562856"/>
            <a:ext cx="197510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适用场景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651760" y="4562856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大量轻量设备数据上报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315200" y="4562856"/>
            <a:ext cx="4626864" cy="60350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底层传输或专用协议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68680" y="5623560"/>
            <a:ext cx="10469880" cy="502920"/>
          </a:xfrm>
          <a:prstGeom prst="rect">
            <a:avLst/>
          </a:prstGeom>
          <a:solidFill>
            <a:srgbClr val="EFF6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本项目选择 QoS 1：至少送达一次。它比 QoS 0 更可靠，又比 QoS 2 的握手成本更低，适合温湿度高频时序数据。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JSON 数据格式设计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字段清晰、跨语言解析方便，并能支撑丢包检测与异常标记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4800600" cy="3154680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"deviceId": "env-node-001",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"seq": 1001,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"2026-06-15 20:30:00",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"temperature": 28.6,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"humidity": 65.2,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"normal"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1444752"/>
            <a:ext cx="1929384" cy="493776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</a:rPr>
              <a:t>字段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8138160" y="1444752"/>
            <a:ext cx="3163824" cy="493776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</a:rPr>
              <a:t>设计目的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172200" y="1965960"/>
            <a:ext cx="192938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deviceId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8138160" y="1965960"/>
            <a:ext cx="316382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区分不同采集节点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172200" y="2487168"/>
            <a:ext cx="1929384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seq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8138160" y="2487168"/>
            <a:ext cx="3163824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判断 MQTT 数据是否丢包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172200" y="3008376"/>
            <a:ext cx="192938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timestamp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8138160" y="3008376"/>
            <a:ext cx="316382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保留采集时间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172200" y="3529584"/>
            <a:ext cx="1929384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temperature / humidity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8138160" y="3529584"/>
            <a:ext cx="3163824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核心温湿度指标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172200" y="4050792"/>
            <a:ext cx="192938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status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8138160" y="4050792"/>
            <a:ext cx="3163824" cy="4937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2263A"/>
                </a:solidFill>
              </a:rPr>
              <a:t>标记 normal、jump、lost、offline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868680" y="5486400"/>
            <a:ext cx="10515600" cy="502920"/>
          </a:xfrm>
          <a:prstGeom prst="rect">
            <a:avLst/>
          </a:prstGeom>
          <a:solidFill>
            <a:srgbClr val="ECFDF5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选择 JSON 的理由：可读性强、Python / Java / Vue 都能直接解析，后续增加光照、烟雾、PM2.5 等字段也很方便。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Python 模拟传感器端设计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模拟真实采样：基础值、周期趋势、随机噪声和异常注入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" y="1554480"/>
            <a:ext cx="1965960" cy="841248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63A"/>
                </a:solidFill>
              </a:rPr>
              <a:t>基础环境值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2263A"/>
                </a:solidFill>
              </a:rPr>
              <a:t>26℃ / 60%RH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27248" y="1554480"/>
            <a:ext cx="1965960" cy="841248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周期变化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模拟环境缓慢波动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49824" y="1554480"/>
            <a:ext cx="1965960" cy="841248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随机噪声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模拟测量误差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0" y="1554480"/>
            <a:ext cx="2103120" cy="841248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异常注入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跳变 / 丢包 / 离线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1975104"/>
            <a:ext cx="228600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48072" y="1975104"/>
            <a:ext cx="23774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79792" y="1975104"/>
            <a:ext cx="228600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96112" y="3310128"/>
            <a:ext cx="1005840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2263A"/>
                </a:solidFill>
              </a:rPr>
              <a:t>normal 模式：按概率随机生成异常，接近真实运行状态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demo 模式：固定顺序触发超温、超湿、跳变、丢包、离线，适合课堂展示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发布端使用 MQTT QoS=1，降低消息丢失风险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配置支持环境变量，既能连接公共 Broker，也能连接 Docker 内 EMQX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断线自动重连机制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发布端与后端都考虑网络不稳定场景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017520" cy="1005840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Python 发布端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指数退避重连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0" y="1508760"/>
            <a:ext cx="3017520" cy="1005840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Spring Boot 后端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Paho 自动重连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0" y="1508760"/>
            <a:ext cx="2743200" cy="1005840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连接恢复后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自动重新订阅 Topic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246120"/>
            <a:ext cx="4663440" cy="1737360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重连间隔：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1s → 2s → 4s → 8s → 16s → 30s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目的：避免网络异常时频繁请求 Broker，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同时保证网络恢复后能够自动继续上传。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3246120"/>
            <a:ext cx="466344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2263A"/>
                </a:solidFill>
              </a:rPr>
              <a:t>后端首次连接失败也会在后台线程中持续重试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connectComplete 回调中重新订阅 Topic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Docker 中 EMQX 尚未启动完成时，后端不会直接崩溃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Spring Boot 后端处理流程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平台层集中完成订阅、解析、滤波、报警、诊断和推送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325880" cy="987552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MQTT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订阅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2103120"/>
            <a:ext cx="1325880" cy="987552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</a:rPr>
              <a:t>JSON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2263A"/>
                </a:solidFill>
              </a:rPr>
              <a:t>解析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90288" y="2103120"/>
            <a:ext cx="1325880" cy="987552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丢包/跳变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检测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28816" y="2103120"/>
            <a:ext cx="1325880" cy="987552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滑动平均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滤波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67344" y="2103120"/>
            <a:ext cx="1325880" cy="987552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报警/诊断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生成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168128" y="2103120"/>
            <a:ext cx="1325880" cy="987552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WebSocket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推送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03120" y="2596896"/>
            <a:ext cx="475488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41648" y="2596896"/>
            <a:ext cx="475488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980176" y="2596896"/>
            <a:ext cx="475488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18704" y="2596896"/>
            <a:ext cx="475488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57232" y="2596896"/>
            <a:ext cx="237744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896112" y="4251960"/>
            <a:ext cx="1033272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</a:rPr>
              <a:t>后端同时提供 REST 接口：/api/latest、/api/history、/api/alarms、/api/health，用于前端初始化与调试。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10332720" cy="502920"/>
          </a:xfrm>
          <a:prstGeom prst="rect">
            <a:avLst/>
          </a:prstGeom>
          <a:solidFill>
            <a:srgbClr val="ECFDF5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263A"/>
                </a:solidFill>
              </a:rPr>
              <a:t>新增 DiagnosisService：不依赖外部 API，根据报警类型生成本地规则诊断建议，保证课堂演示稳定。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异常数据与滤波处理策略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针对随机噪声、跳变、丢包和离线分别处理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1975104" cy="62179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异常类型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697480" y="1417320"/>
            <a:ext cx="4169664" cy="62179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模拟方式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6903720" y="1417320"/>
            <a:ext cx="4626864" cy="62179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处理策略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685800" y="2066544"/>
            <a:ext cx="197510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随机噪声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2697480" y="2066544"/>
            <a:ext cx="416966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温湿度加入小范围波动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6903720" y="2066544"/>
            <a:ext cx="462686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滑动平均滤波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85800" y="2715768"/>
            <a:ext cx="197510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跳变异常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2697480" y="2715768"/>
            <a:ext cx="41696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温湿度瞬间大幅变化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6903720" y="2715768"/>
            <a:ext cx="46268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阈值判断，异常点不进窗口</a:t>
            </a:r>
            <a:endParaRPr lang="en-US" sz="1230" dirty="0"/>
          </a:p>
        </p:txBody>
      </p:sp>
      <p:sp>
        <p:nvSpPr>
          <p:cNvPr id="15" name="Text 13"/>
          <p:cNvSpPr/>
          <p:nvPr/>
        </p:nvSpPr>
        <p:spPr>
          <a:xfrm>
            <a:off x="685800" y="3364992"/>
            <a:ext cx="197510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丢包异常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2697480" y="3364992"/>
            <a:ext cx="416966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本次数据不发送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6903720" y="3364992"/>
            <a:ext cx="4626864" cy="62179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通过 seq 不连续识别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685800" y="4014216"/>
            <a:ext cx="197510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设备离线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2697480" y="4014216"/>
            <a:ext cx="41696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状态为 offline 或暂停发送</a:t>
            </a:r>
            <a:endParaRPr lang="en-US" sz="1230" dirty="0"/>
          </a:p>
        </p:txBody>
      </p:sp>
      <p:sp>
        <p:nvSpPr>
          <p:cNvPr id="20" name="Text 18"/>
          <p:cNvSpPr/>
          <p:nvPr/>
        </p:nvSpPr>
        <p:spPr>
          <a:xfrm>
            <a:off x="6903720" y="4014216"/>
            <a:ext cx="4626864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2263A"/>
                </a:solidFill>
              </a:rPr>
              <a:t>前端显示异常并给出建议</a:t>
            </a:r>
            <a:endParaRPr lang="en-US" sz="1230" dirty="0"/>
          </a:p>
        </p:txBody>
      </p:sp>
      <p:sp>
        <p:nvSpPr>
          <p:cNvPr id="21" name="Text 19"/>
          <p:cNvSpPr/>
          <p:nvPr/>
        </p:nvSpPr>
        <p:spPr>
          <a:xfrm>
            <a:off x="868680" y="5212080"/>
            <a:ext cx="10378440" cy="502920"/>
          </a:xfrm>
          <a:prstGeom prst="rect">
            <a:avLst/>
          </a:prstGeom>
          <a:solidFill>
            <a:srgbClr val="FFFBEB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滑动平均的缺陷是存在滞后性，因此系统同时保留原始值和滤波值，并对突变点进行 outlier 标记。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报警逻辑与本地诊断建议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后端统一判断报警类型，前端负责醒目展示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057400" cy="822960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</a:rPr>
              <a:t>TEMP_HIGH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</a:rPr>
              <a:t>温度 ≥ 35℃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29000" y="1508760"/>
            <a:ext cx="2057400" cy="822960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HUMIDITY_HIGH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湿度 ≥ 80%RH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89320" y="1508760"/>
            <a:ext cx="2057400" cy="822960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DATA_OUTLIER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跳变异常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49640" y="1508760"/>
            <a:ext cx="2057400" cy="822960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PACKET_LOSS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序号不连续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3246120"/>
            <a:ext cx="9966960" cy="566928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</a:rPr>
              <a:t>示例诊断：检测到数据序号不连续，建议检查网络质量、MQTT Broker 连接状态和采集端运行日志。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34840"/>
            <a:ext cx="98755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50" dirty="0">
                <a:solidFill>
                  <a:srgbClr val="12263A"/>
                </a:solidFill>
              </a:rPr>
              <a:t>本地规则诊断不依赖 API Key，演示更稳定</a:t>
            </a:r>
            <a:endParaRPr lang="en-US" sz="1550" dirty="0"/>
          </a:p>
          <a:p>
            <a:r>
              <a:rPr lang="en-US" sz="1550" dirty="0">
                <a:solidFill>
                  <a:srgbClr val="12263A"/>
                </a:solidFill>
              </a:rPr>
              <a:t>后续可把 DiagnosisService 替换为 DeepSeek / Kimi 等 LLM API</a:t>
            </a:r>
            <a:endParaRPr lang="en-US" sz="1550" dirty="0"/>
          </a:p>
          <a:p>
            <a:r>
              <a:rPr lang="en-US" sz="1550" dirty="0">
                <a:solidFill>
                  <a:srgbClr val="12263A"/>
                </a:solidFill>
              </a:rPr>
              <a:t>报警记录包含 alarmType、alarmMessage、diagnosisAdvice、温湿度值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Vue + ECharts 实时可视化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一个主页面完成实时曲线、状态卡片、报警记录与诊断建议展示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1572768" cy="621792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</a:rPr>
              <a:t>当前温度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1371600"/>
            <a:ext cx="1572768" cy="621792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当前湿度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09160" y="1371600"/>
            <a:ext cx="1572768" cy="621792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设备状态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1371600"/>
            <a:ext cx="1572768" cy="621792"/>
          </a:xfrm>
          <a:prstGeom prst="rect">
            <a:avLst/>
          </a:prstGeom>
          <a:solidFill>
            <a:srgbClr val="FFFBEB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报警状态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429000" cy="1005840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温度实时曲线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原始值 vs 滤波值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606040"/>
            <a:ext cx="3429000" cy="1005840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湿度实时曲线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2263A"/>
                </a:solidFill>
              </a:rPr>
              <a:t>原始值 vs 滤波值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2606040"/>
            <a:ext cx="2194560" cy="1005840"/>
          </a:xfrm>
          <a:prstGeom prst="rect">
            <a:avLst/>
          </a:prstGeom>
          <a:solidFill>
            <a:srgbClr val="FEF2F2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报警记录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</a:rPr>
              <a:t>诊断建议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937760"/>
            <a:ext cx="10149840" cy="502920"/>
          </a:xfrm>
          <a:prstGeom prst="rect">
            <a:avLst/>
          </a:prstGeom>
          <a:solidFill>
            <a:srgbClr val="EFF6FF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2263A"/>
                </a:solidFill>
              </a:rPr>
              <a:t>WebSocket 负责实时推送；REST 接口负责页面初始化和历史记录查询。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Docker 一键部署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提升运行说明质量，减少环境配置成本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4572000" cy="658368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1397" tIns="1397" rIns="1397" bIns="1397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 --build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1883664" cy="566928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服务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788920" y="2423160"/>
            <a:ext cx="5815584" cy="566928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作用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41080" y="2423160"/>
            <a:ext cx="2249424" cy="566928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端口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017520"/>
            <a:ext cx="188366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emqx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88920" y="3017520"/>
            <a:ext cx="581558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本地 MQTT Broker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41080" y="3017520"/>
            <a:ext cx="224942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1883 / 18083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188366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backend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88920" y="3611880"/>
            <a:ext cx="581558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Spring Boot 后端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41080" y="3611880"/>
            <a:ext cx="224942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8080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68680" y="4206240"/>
            <a:ext cx="188366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frontend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788920" y="4206240"/>
            <a:ext cx="581558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Vue 静态页面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41080" y="4206240"/>
            <a:ext cx="2249424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5173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4800600"/>
            <a:ext cx="188366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sensor-simulator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88920" y="4800600"/>
            <a:ext cx="581558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Python 模拟采集节点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41080" y="4800600"/>
            <a:ext cx="224942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3A"/>
                </a:solidFill>
              </a:rPr>
              <a:t>内部运行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" y="5715000"/>
            <a:ext cx="10287000" cy="457200"/>
          </a:xfrm>
          <a:prstGeom prst="rect">
            <a:avLst/>
          </a:prstGeom>
          <a:solidFill>
            <a:srgbClr val="ECFDF5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课堂演示时可优先使用 Docker 本地 EMQX，避免公共 Broker 网络波动影响演示。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拓展设计：时序数据库与 LLM 诊断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拓展层只作为设计预留，不影响核心演示稳定性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2651760" cy="841248"/>
          </a:xfrm>
          <a:prstGeom prst="rect">
            <a:avLst/>
          </a:prstGeom>
          <a:solidFill>
            <a:srgbClr val="F8FAFC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</a:rPr>
              <a:t>当前实现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</a:rPr>
              <a:t>内存缓存最近数据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2651760" cy="841248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可扩展为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InfluxDB / TDengine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49640" y="1554480"/>
            <a:ext cx="2651760" cy="841248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适用场景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长期时序趋势分析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11880" y="1975104"/>
            <a:ext cx="1033272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52360" y="1975104"/>
            <a:ext cx="1033272" cy="0"/>
          </a:xfrm>
          <a:prstGeom prst="line">
            <a:avLst/>
          </a:prstGeom>
          <a:noFill/>
          <a:ln w="2032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2263A"/>
                </a:solidFill>
              </a:rPr>
              <a:t>真实 IoT 场景数据具有高频写入、时间窗口查询、长期趋势分析特点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当前使用规则诊断保证稳定；后续可将 DiagnosisService 替换为 LLM API</a:t>
            </a:r>
            <a:endParaRPr lang="en-US" sz="1600" dirty="0"/>
          </a:p>
          <a:p>
            <a:r>
              <a:rPr lang="en-US" sz="1600" dirty="0">
                <a:solidFill>
                  <a:srgbClr val="12263A"/>
                </a:solidFill>
              </a:rPr>
              <a:t>答辩表达重点：我们知道可拓展方向，但不让外部依赖影响核心功能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测试场景与预期结果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demo 模式稳定触发关键场景，方便课堂演示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353312"/>
            <a:ext cx="2295144" cy="53035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</a:rPr>
              <a:t>测试场景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3017520" y="1353312"/>
            <a:ext cx="2980944" cy="53035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</a:rPr>
              <a:t>触发方式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6035040" y="1353312"/>
            <a:ext cx="5449824" cy="530352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</a:rPr>
              <a:t>预期结果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685800" y="1911096"/>
            <a:ext cx="22951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正常数据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3017520" y="1911096"/>
            <a:ext cx="29809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normal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6035040" y="1911096"/>
            <a:ext cx="544982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曲线持续刷新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85800" y="2468880"/>
            <a:ext cx="22951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超温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3017520" y="2468880"/>
            <a:ext cx="29809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temp_high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6035040" y="2468880"/>
            <a:ext cx="544982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TEMP_HIGH 报警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685800" y="3026664"/>
            <a:ext cx="22951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超湿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3017520" y="3026664"/>
            <a:ext cx="29809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humidity_high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6035040" y="3026664"/>
            <a:ext cx="544982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HUMIDITY_HIGH 报警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685800" y="3584448"/>
            <a:ext cx="22951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跳变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3017520" y="3584448"/>
            <a:ext cx="29809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jump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035040" y="3584448"/>
            <a:ext cx="544982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DATA_OUTLIER + 滤波隔离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685800" y="4142232"/>
            <a:ext cx="22951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丢包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3017520" y="4142232"/>
            <a:ext cx="298094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lost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035040" y="4142232"/>
            <a:ext cx="5449824" cy="530352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seq 不连续 + PACKET_LOSS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85800" y="4700016"/>
            <a:ext cx="22951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离线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3017520" y="4700016"/>
            <a:ext cx="298094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offline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6035040" y="4700016"/>
            <a:ext cx="5449824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20" dirty="0">
                <a:solidFill>
                  <a:srgbClr val="12263A"/>
                </a:solidFill>
              </a:rPr>
              <a:t>DEVICE_OFFLINE + 诊断建议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822960" y="5650992"/>
            <a:ext cx="10515600" cy="457200"/>
          </a:xfrm>
          <a:prstGeom prst="rect">
            <a:avLst/>
          </a:prstGeom>
          <a:solidFill>
            <a:srgbClr val="FFFBEB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测试目标：证明系统不是只会显示正常数据，而是具备异常识别、处理和解释能力。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小组分工与贡献说明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两名成员都有核心代码产出，并共同完成联调与答辩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3840480" cy="713232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成员 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</a:rPr>
              <a:t>数据模拟与后端业务引擎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29768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350" dirty="0">
                <a:solidFill>
                  <a:srgbClr val="12263A"/>
                </a:solidFill>
              </a:rPr>
              <a:t>Python 模拟器、随机噪声、异常注入</a:t>
            </a:r>
            <a:endParaRPr lang="en-US" sz="1350" dirty="0"/>
          </a:p>
          <a:p>
            <a:r>
              <a:rPr lang="en-US" sz="1350" dirty="0">
                <a:solidFill>
                  <a:srgbClr val="12263A"/>
                </a:solidFill>
              </a:rPr>
              <a:t>MQTT 发布、JSON 协议、断线重连</a:t>
            </a:r>
            <a:endParaRPr lang="en-US" sz="1350" dirty="0"/>
          </a:p>
          <a:p>
            <a:r>
              <a:rPr lang="en-US" sz="1350" dirty="0">
                <a:solidFill>
                  <a:srgbClr val="12263A"/>
                </a:solidFill>
              </a:rPr>
              <a:t>Spring Boot 订阅、滤波、丢包检测、报警与诊断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46520" y="1417320"/>
            <a:ext cx="3840480" cy="713232"/>
          </a:xfrm>
          <a:prstGeom prst="rect">
            <a:avLst/>
          </a:prstGeom>
          <a:solidFill>
            <a:srgbClr val="ECFDF5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成员 B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前端可视化与汇报设计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468880"/>
            <a:ext cx="429768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350" dirty="0">
                <a:solidFill>
                  <a:srgbClr val="12263A"/>
                </a:solidFill>
              </a:rPr>
              <a:t>Vue + ECharts 实时曲线</a:t>
            </a:r>
            <a:endParaRPr lang="en-US" sz="1350" dirty="0"/>
          </a:p>
          <a:p>
            <a:r>
              <a:rPr lang="en-US" sz="1350" dirty="0">
                <a:solidFill>
                  <a:srgbClr val="12263A"/>
                </a:solidFill>
              </a:rPr>
              <a:t>报警 UI、状态卡片、诊断建议展示</a:t>
            </a:r>
            <a:endParaRPr lang="en-US" sz="1350" dirty="0"/>
          </a:p>
          <a:p>
            <a:r>
              <a:rPr lang="en-US" sz="1350" dirty="0">
                <a:solidFill>
                  <a:srgbClr val="12263A"/>
                </a:solidFill>
              </a:rPr>
              <a:t>PPT、运行说明、测试说明、最终打包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5532120"/>
            <a:ext cx="10195560" cy="457200"/>
          </a:xfrm>
          <a:prstGeom prst="rect">
            <a:avLst/>
          </a:prstGeom>
          <a:solidFill>
            <a:srgbClr val="F8FAFC"/>
          </a:solidFill>
          <a:ln w="889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2263A"/>
                </a:solidFill>
              </a:rPr>
              <a:t>共同完成：接口字段对齐、Docker 联调、异常测试、断线重连测试、代码注释检查、答辩排练。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200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263A"/>
                </a:solidFill>
              </a:rPr>
              <a:t>项目总结与答辩防守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76656" y="786384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完成高分基本盘，并补充工程化亮点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1088136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92840" y="64739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731520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800" dirty="0">
                <a:solidFill>
                  <a:srgbClr val="12263A"/>
                </a:solidFill>
              </a:rPr>
              <a:t>完成完整物联网链路：模拟采集 → MQTT → 后端处理 → 前端展示</a:t>
            </a:r>
            <a:endParaRPr lang="en-US" sz="1800" dirty="0"/>
          </a:p>
          <a:p>
            <a:r>
              <a:rPr lang="en-US" sz="1800" dirty="0">
                <a:solidFill>
                  <a:srgbClr val="12263A"/>
                </a:solidFill>
              </a:rPr>
              <a:t>覆盖四个核心考核点：协议选择、数据格式、重连机制、异常处理</a:t>
            </a:r>
            <a:endParaRPr lang="en-US" sz="1800" dirty="0"/>
          </a:p>
          <a:p>
            <a:r>
              <a:rPr lang="en-US" sz="1800" dirty="0">
                <a:solidFill>
                  <a:srgbClr val="12263A"/>
                </a:solidFill>
              </a:rPr>
              <a:t>新增工程化能力：Docker 一键部署、本地规则诊断、时序数据库拓展说明</a:t>
            </a:r>
            <a:endParaRPr lang="en-US" sz="1800" dirty="0"/>
          </a:p>
          <a:p>
            <a:r>
              <a:rPr lang="en-US" sz="1800" dirty="0">
                <a:solidFill>
                  <a:srgbClr val="12263A"/>
                </a:solidFill>
              </a:rPr>
              <a:t>答辩防守：滑动平均有滞后性；MQTT 使用 QoS 1；seq 用于丢包检测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49640" y="1920240"/>
            <a:ext cx="2468880" cy="2011680"/>
          </a:xfrm>
          <a:prstGeom prst="rect">
            <a:avLst/>
          </a:prstGeom>
          <a:solidFill>
            <a:srgbClr val="EFF6FF"/>
          </a:solidFill>
          <a:ln w="8255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最终效果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实时曲线 + 报警提示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异常处理 + 诊断建议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Docker 一键启动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58064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263A"/>
                </a:solidFill>
              </a:rPr>
              <a:t>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课程设计小组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物联网课程设计汇报</dc:title>
  <dc:subject>基于 MQTT 的智能温湿度环境监测与异常报警系统</dc:subject>
  <dc:creator>物联网技术开发课程设计小组</dc:creator>
  <cp:lastModifiedBy>物联网技术开发课程设计小组</cp:lastModifiedBy>
  <cp:revision>1</cp:revision>
  <dcterms:created xsi:type="dcterms:W3CDTF">2026-06-15T08:18:27Z</dcterms:created>
  <dcterms:modified xsi:type="dcterms:W3CDTF">2026-06-15T08:18:27Z</dcterms:modified>
</cp:coreProperties>
</file>